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9"/>
  </p:notesMasterIdLst>
  <p:sldIdLst>
    <p:sldId id="2076137175" r:id="rId2"/>
    <p:sldId id="2076137358" r:id="rId3"/>
    <p:sldId id="2076137359" r:id="rId4"/>
    <p:sldId id="2076137360" r:id="rId5"/>
    <p:sldId id="2076137338" r:id="rId6"/>
    <p:sldId id="2076137353" r:id="rId7"/>
    <p:sldId id="207613735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B1660F4-BA9A-82B8-C334-CF91C75A5656}" name="Ruth Marcela Espinosa Sarmiento" initials="RS" userId="S::ruth.espinosa@unab.cl::2acad1b5-36c7-4a86-bd14-a01055d811d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546A"/>
    <a:srgbClr val="FFCCCC"/>
    <a:srgbClr val="800000"/>
    <a:srgbClr val="680000"/>
    <a:srgbClr val="FF99CC"/>
    <a:srgbClr val="FF00FF"/>
    <a:srgbClr val="CC0099"/>
    <a:srgbClr val="CC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605"/>
    <p:restoredTop sz="94674"/>
  </p:normalViewPr>
  <p:slideViewPr>
    <p:cSldViewPr snapToGrid="0">
      <p:cViewPr varScale="1">
        <p:scale>
          <a:sx n="102" d="100"/>
          <a:sy n="102" d="100"/>
        </p:scale>
        <p:origin x="95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B2D6A-D10B-4950-84AB-B76A76B41051}" type="datetimeFigureOut">
              <a:t>10/1/2026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2D85B4-8D15-40BA-BE63-8F85761BC2A6}" type="slidenum">
              <a:t>‹#›</a:t>
            </a:fld>
            <a:endParaRPr lang="es-ES"/>
          </a:p>
        </p:txBody>
      </p:sp>
    </p:spTree>
    <p:extLst>
      <p:ext uri="{BB962C8B-B14F-4D97-AF65-F5344CB8AC3E}">
        <p14:creationId xmlns:p14="http://schemas.microsoft.com/office/powerpoint/2010/main" val="1526282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MX"/>
              <a:t>Presentar a Cristian, Jorge, Renzo y Luis. Cada fila representa un nacido vivo registrado. El proyecto responde tres preguntas descriptivas definidas en F1. Fuente: DEIS/MINSAL.</a:t>
            </a:r>
            <a:endParaRPr lang="en-US"/>
          </a:p>
        </p:txBody>
      </p:sp>
      <p:sp>
        <p:nvSpPr>
          <p:cNvPr id="4" name="Slide Number Placeholder 3"/>
          <p:cNvSpPr>
            <a:spLocks noGrp="1"/>
          </p:cNvSpPr>
          <p:nvPr>
            <p:ph type="sldNum" sz="quarter" idx="5"/>
          </p:nvPr>
        </p:nvSpPr>
        <p:spPr/>
        <p:txBody>
          <a:bodyPr/>
          <a:lstStyle/>
          <a:p>
            <a:fld id="{D32D85B4-8D15-40BA-BE63-8F85761BC2A6}" type="slidenum">
              <a:rPr lang="en-US" smtClean="0"/>
              <a:t>1</a:t>
            </a:fld>
            <a:endParaRPr lang="en-US"/>
          </a:p>
        </p:txBody>
      </p:sp>
    </p:spTree>
    <p:extLst>
      <p:ext uri="{BB962C8B-B14F-4D97-AF65-F5344CB8AC3E}">
        <p14:creationId xmlns:p14="http://schemas.microsoft.com/office/powerpoint/2010/main" val="14235199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Explicar la continuidad entre fases. El notebook F4 verifica las 735.611 filas, las 16 regiones, los 48 pares año-mes y la huella del archivo original.</a:t>
            </a:r>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2</a:t>
            </a:fld>
            <a:endParaRPr lang="es-CL"/>
          </a:p>
        </p:txBody>
      </p:sp>
    </p:spTree>
    <p:extLst>
      <p:ext uri="{BB962C8B-B14F-4D97-AF65-F5344CB8AC3E}">
        <p14:creationId xmlns:p14="http://schemas.microsoft.com/office/powerpoint/2010/main" val="27318823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Denominador: todos los nacidos vivos por región de residencia materna. Los intervalos de Wilson muestran incertidumbre bajo un modelo binomial. No es una tasa de embarazo adolescente.</a:t>
            </a:r>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3</a:t>
            </a:fld>
            <a:endParaRPr lang="es-CL"/>
          </a:p>
        </p:txBody>
      </p:sp>
    </p:spTree>
    <p:extLst>
      <p:ext uri="{BB962C8B-B14F-4D97-AF65-F5344CB8AC3E}">
        <p14:creationId xmlns:p14="http://schemas.microsoft.com/office/powerpoint/2010/main" val="14223111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Los conteos se dividen por días calendario de cada mes y año; febrero de 2020 incluye 29 días. Las líneas muestran variación interanual. No atribuimos causalidad a la pandemia.</a:t>
            </a:r>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4</a:t>
            </a:fld>
            <a:endParaRPr lang="es-CL"/>
          </a:p>
        </p:txBody>
      </p:sp>
    </p:spTree>
    <p:extLst>
      <p:ext uri="{BB962C8B-B14F-4D97-AF65-F5344CB8AC3E}">
        <p14:creationId xmlns:p14="http://schemas.microsoft.com/office/powerpoint/2010/main" val="32321194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F2 aplicó mediana regional a 597 tallas faltantes. Sin esas imputaciones, las mismas regiones permanecen en los extremos; el mayor cambio regional fue 0,0008 cm.</a:t>
            </a:r>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5</a:t>
            </a:fld>
            <a:endParaRPr lang="es-CL"/>
          </a:p>
        </p:txBody>
      </p:sp>
    </p:spTree>
    <p:extLst>
      <p:ext uri="{BB962C8B-B14F-4D97-AF65-F5344CB8AC3E}">
        <p14:creationId xmlns:p14="http://schemas.microsoft.com/office/powerpoint/2010/main" val="25060348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MX"/>
              <a:t>Estas mediciones corresponden al equipo y entorno de F3. groupby tardó unas 15,9 veces menos. La lectura selectiva redujo la memoria del DataFrame. El pico de tracemalloc fue mayor con groupby, pero no representa toda la memoria del proceso.</a:t>
            </a:r>
            <a:endParaRPr lang="en-US"/>
          </a:p>
        </p:txBody>
      </p:sp>
      <p:sp>
        <p:nvSpPr>
          <p:cNvPr id="4" name="Slide Number Placeholder 3"/>
          <p:cNvSpPr>
            <a:spLocks noGrp="1"/>
          </p:cNvSpPr>
          <p:nvPr>
            <p:ph type="sldNum" sz="quarter" idx="5"/>
          </p:nvPr>
        </p:nvSpPr>
        <p:spPr/>
        <p:txBody>
          <a:bodyPr/>
          <a:lstStyle/>
          <a:p>
            <a:fld id="{D32D85B4-8D15-40BA-BE63-8F85761BC2A6}" type="slidenum">
              <a:rPr lang="en-US" smtClean="0"/>
              <a:t>6</a:t>
            </a:fld>
            <a:endParaRPr lang="en-US"/>
          </a:p>
        </p:txBody>
      </p:sp>
    </p:spTree>
    <p:extLst>
      <p:ext uri="{BB962C8B-B14F-4D97-AF65-F5344CB8AC3E}">
        <p14:creationId xmlns:p14="http://schemas.microsoft.com/office/powerpoint/2010/main" val="18518941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MX"/>
              <a:t>Cierre: retomar las tres preguntas y las unidades de cada resultado. La asociación entre región y maternidad menor de 20 años tuvo V de Cramér 0,036, pequeña pese al p-value bajo. Proponer ampliar la serie histórica y separar tendencia anual de estacionalidad.</a:t>
            </a:r>
            <a:endParaRPr lang="en-US"/>
          </a:p>
        </p:txBody>
      </p:sp>
      <p:sp>
        <p:nvSpPr>
          <p:cNvPr id="4" name="Slide Number Placeholder 3"/>
          <p:cNvSpPr>
            <a:spLocks noGrp="1"/>
          </p:cNvSpPr>
          <p:nvPr>
            <p:ph type="sldNum" sz="quarter" idx="5"/>
          </p:nvPr>
        </p:nvSpPr>
        <p:spPr/>
        <p:txBody>
          <a:bodyPr/>
          <a:lstStyle/>
          <a:p>
            <a:fld id="{D32D85B4-8D15-40BA-BE63-8F85761BC2A6}" type="slidenum">
              <a:rPr lang="en-US" smtClean="0"/>
              <a:t>7</a:t>
            </a:fld>
            <a:endParaRPr lang="en-US"/>
          </a:p>
        </p:txBody>
      </p:sp>
    </p:spTree>
    <p:extLst>
      <p:ext uri="{BB962C8B-B14F-4D97-AF65-F5344CB8AC3E}">
        <p14:creationId xmlns:p14="http://schemas.microsoft.com/office/powerpoint/2010/main" val="144305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7DC156A5-B668-40B6-B68E-AFC99CB3A359}" type="datetimeFigureOut">
              <a:rPr lang="es-CL" smtClean="0"/>
              <a:t>01-10-2026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81876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7DC156A5-B668-40B6-B68E-AFC99CB3A359}" type="datetimeFigureOut">
              <a:rPr lang="es-CL" smtClean="0"/>
              <a:t>01-10-2026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777784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7DC156A5-B668-40B6-B68E-AFC99CB3A359}" type="datetimeFigureOut">
              <a:rPr lang="es-CL" smtClean="0"/>
              <a:t>01-10-2026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463483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7DC156A5-B668-40B6-B68E-AFC99CB3A359}" type="datetimeFigureOut">
              <a:rPr lang="es-CL" smtClean="0"/>
              <a:t>01-10-2026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1643728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7DC156A5-B668-40B6-B68E-AFC99CB3A359}" type="datetimeFigureOut">
              <a:rPr lang="es-CL" smtClean="0"/>
              <a:t>01-10-2026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1964894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7DC156A5-B668-40B6-B68E-AFC99CB3A359}" type="datetimeFigureOut">
              <a:rPr lang="es-CL" smtClean="0"/>
              <a:t>01-10-2026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2114832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DC156A5-B668-40B6-B68E-AFC99CB3A359}" type="datetimeFigureOut">
              <a:rPr lang="es-CL" smtClean="0"/>
              <a:t>01-10-2026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474201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7DC156A5-B668-40B6-B68E-AFC99CB3A359}" type="datetimeFigureOut">
              <a:rPr lang="es-CL" smtClean="0"/>
              <a:t>01-10-2026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12424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MX"/>
              <a:t>Haz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7DC156A5-B668-40B6-B68E-AFC99CB3A359}" type="datetimeFigureOut">
              <a:rPr lang="es-CL" smtClean="0"/>
              <a:t>01-10-2026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1571960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7DC156A5-B668-40B6-B68E-AFC99CB3A359}" type="datetimeFigureOut">
              <a:rPr lang="es-CL" smtClean="0"/>
              <a:t>01-10-2026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3224430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7DC156A5-B668-40B6-B68E-AFC99CB3A359}" type="datetimeFigureOut">
              <a:rPr lang="es-CL" smtClean="0"/>
              <a:t>01-10-2026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a:t>
            </a:fld>
            <a:endParaRPr lang="es-CL"/>
          </a:p>
        </p:txBody>
      </p:sp>
    </p:spTree>
    <p:extLst>
      <p:ext uri="{BB962C8B-B14F-4D97-AF65-F5344CB8AC3E}">
        <p14:creationId xmlns:p14="http://schemas.microsoft.com/office/powerpoint/2010/main" val="3811924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C156A5-B668-40B6-B68E-AFC99CB3A359}" type="datetimeFigureOut">
              <a:rPr lang="es-CL" smtClean="0"/>
              <a:t>01-10-2026</a:t>
            </a:fld>
            <a:endParaRPr lang="es-CL"/>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4E32BF-339A-4FD7-AF2D-884DBB49ECE9}" type="slidenum">
              <a:rPr lang="es-CL" smtClean="0"/>
              <a:t>‹#›</a:t>
            </a:fld>
            <a:endParaRPr lang="es-CL"/>
          </a:p>
        </p:txBody>
      </p:sp>
    </p:spTree>
    <p:extLst>
      <p:ext uri="{BB962C8B-B14F-4D97-AF65-F5344CB8AC3E}">
        <p14:creationId xmlns:p14="http://schemas.microsoft.com/office/powerpoint/2010/main" val="833609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emf"/></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emf"/></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emf"/></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10" name="Título 1">
            <a:extLst>
              <a:ext uri="{FF2B5EF4-FFF2-40B4-BE49-F238E27FC236}">
                <a16:creationId xmlns:a16="http://schemas.microsoft.com/office/drawing/2014/main" id="{8261AC4D-D56B-FCD9-2D31-C2C2E0662094}"/>
              </a:ext>
            </a:extLst>
          </p:cNvPr>
          <p:cNvSpPr txBox="1">
            <a:spLocks/>
          </p:cNvSpPr>
          <p:nvPr/>
        </p:nvSpPr>
        <p:spPr>
          <a:xfrm>
            <a:off x="1717331" y="2894648"/>
            <a:ext cx="8757337" cy="741700"/>
          </a:xfrm>
          <a:prstGeom prst="rect">
            <a:avLst/>
          </a:prstGeom>
        </p:spPr>
        <p:txBody>
          <a:bodyPr vert="horz" wrap="square"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MX" sz="2900">
                <a:solidFill>
                  <a:srgbClr val="FFFFFF"/>
                </a:solidFill>
                <a:latin typeface="Arial" panose="020B0604020202020204" pitchFamily="34" charset="0"/>
                <a:cs typeface="Calibri Light"/>
              </a:rPr>
              <a:t>Nacimientos en Chile entre 2020 y 2023</a:t>
            </a:r>
            <a:endParaRPr lang="es-ES" sz="2900" dirty="0">
              <a:solidFill>
                <a:srgbClr val="FFFFFF"/>
              </a:solidFill>
              <a:latin typeface="Arial" panose="020B0604020202020204" pitchFamily="34" charset="0"/>
            </a:endParaRPr>
          </a:p>
        </p:txBody>
      </p:sp>
      <p:pic>
        <p:nvPicPr>
          <p:cNvPr id="13" name="Imagen 12">
            <a:extLst>
              <a:ext uri="{FF2B5EF4-FFF2-40B4-BE49-F238E27FC236}">
                <a16:creationId xmlns:a16="http://schemas.microsoft.com/office/drawing/2014/main" id="{21B233B7-7A13-619B-C4AD-4E4299F9F41D}"/>
              </a:ext>
            </a:extLst>
          </p:cNvPr>
          <p:cNvPicPr>
            <a:picLocks noChangeAspect="1"/>
          </p:cNvPicPr>
          <p:nvPr/>
        </p:nvPicPr>
        <p:blipFill>
          <a:blip r:embed="rId4"/>
          <a:stretch>
            <a:fillRect/>
          </a:stretch>
        </p:blipFill>
        <p:spPr>
          <a:xfrm>
            <a:off x="5504906" y="1086558"/>
            <a:ext cx="1727200" cy="1460500"/>
          </a:xfrm>
          <a:prstGeom prst="rect">
            <a:avLst/>
          </a:prstGeom>
        </p:spPr>
      </p:pic>
      <p:sp>
        <p:nvSpPr>
          <p:cNvPr id="4" name="Rectángulo 3">
            <a:extLst>
              <a:ext uri="{FF2B5EF4-FFF2-40B4-BE49-F238E27FC236}">
                <a16:creationId xmlns:a16="http://schemas.microsoft.com/office/drawing/2014/main" id="{2944E5F5-76E7-7915-76DC-35DD2BF31062}"/>
              </a:ext>
            </a:extLst>
          </p:cNvPr>
          <p:cNvSpPr/>
          <p:nvPr/>
        </p:nvSpPr>
        <p:spPr>
          <a:xfrm>
            <a:off x="3218270" y="3677840"/>
            <a:ext cx="6000108" cy="457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Subtítulo 2">
            <a:extLst>
              <a:ext uri="{FF2B5EF4-FFF2-40B4-BE49-F238E27FC236}">
                <a16:creationId xmlns:a16="http://schemas.microsoft.com/office/drawing/2014/main" id="{9CBD3C2B-219F-AC36-606B-A6905CE9EE69}"/>
              </a:ext>
            </a:extLst>
          </p:cNvPr>
          <p:cNvSpPr txBox="1">
            <a:spLocks/>
          </p:cNvSpPr>
          <p:nvPr/>
        </p:nvSpPr>
        <p:spPr>
          <a:xfrm>
            <a:off x="3485398" y="3818300"/>
            <a:ext cx="6613130" cy="1098395"/>
          </a:xfrm>
          <a:prstGeom prst="rect">
            <a:avLst/>
          </a:prstGeom>
        </p:spPr>
        <p:txBody>
          <a:bodyPr vert="horz" wrap="square"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2000">
                <a:solidFill>
                  <a:srgbClr val="FFFFFF"/>
                </a:solidFill>
                <a:latin typeface="Arial" panose="020B0604020202020204" pitchFamily="34" charset="0"/>
                <a:cs typeface="Calibri"/>
              </a:rPr>
              <a:t>Proyecto final integrador · Fase 4 · Grupo 2</a:t>
            </a:r>
            <a:endParaRPr lang="es-ES" sz="2000" dirty="0">
              <a:solidFill>
                <a:srgbClr val="FFFFFF"/>
              </a:solidFill>
              <a:latin typeface="Arial" panose="020B0604020202020204" pitchFamily="34" charset="0"/>
              <a:ea typeface="Calibri"/>
              <a:cs typeface="Calibri"/>
            </a:endParaRPr>
          </a:p>
        </p:txBody>
      </p:sp>
      <p:sp>
        <p:nvSpPr>
          <p:cNvPr id="8" name="Subtítulo 2">
            <a:extLst>
              <a:ext uri="{FF2B5EF4-FFF2-40B4-BE49-F238E27FC236}">
                <a16:creationId xmlns:a16="http://schemas.microsoft.com/office/drawing/2014/main" id="{41860A79-B110-9F78-3978-77AFA70E5855}"/>
              </a:ext>
            </a:extLst>
          </p:cNvPr>
          <p:cNvSpPr txBox="1">
            <a:spLocks/>
          </p:cNvSpPr>
          <p:nvPr/>
        </p:nvSpPr>
        <p:spPr>
          <a:xfrm>
            <a:off x="5805270" y="6541035"/>
            <a:ext cx="1426836" cy="425644"/>
          </a:xfrm>
          <a:prstGeom prst="rect">
            <a:avLst/>
          </a:prstGeom>
        </p:spPr>
        <p:txBody>
          <a:bodyPr vert="horz" wrap="square"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ES" sz="1200">
                <a:solidFill>
                  <a:srgbClr val="FFFFFF"/>
                </a:solidFill>
                <a:latin typeface="Arial" panose="020B0604020202020204" pitchFamily="34" charset="0"/>
                <a:ea typeface="Calibri"/>
                <a:cs typeface="Calibri"/>
              </a:rPr>
              <a:t>OCTUBRE 2026</a:t>
            </a:r>
            <a:endParaRPr lang="es-ES" sz="1200" dirty="0">
              <a:solidFill>
                <a:srgbClr val="FFFFFF"/>
              </a:solidFill>
              <a:latin typeface="Arial" panose="020B0604020202020204" pitchFamily="34" charset="0"/>
              <a:ea typeface="Calibri"/>
              <a:cs typeface="Calibri"/>
            </a:endParaRPr>
          </a:p>
        </p:txBody>
      </p:sp>
    </p:spTree>
    <p:extLst>
      <p:ext uri="{BB962C8B-B14F-4D97-AF65-F5344CB8AC3E}">
        <p14:creationId xmlns:p14="http://schemas.microsoft.com/office/powerpoint/2010/main" val="3319734628"/>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4EE738EC-B53A-ABCD-9FA6-598A49119069}"/>
              </a:ext>
            </a:extLst>
          </p:cNvPr>
          <p:cNvPicPr>
            <a:picLocks noChangeAspect="1"/>
          </p:cNvPicPr>
          <p:nvPr/>
        </p:nvPicPr>
        <p:blipFill rotWithShape="1">
          <a:blip r:embed="rId3">
            <a:extLst>
              <a:ext uri="{28A0092B-C50C-407E-A947-70E740481C1C}">
                <a14:useLocalDpi xmlns:a14="http://schemas.microsoft.com/office/drawing/2010/main" val="0"/>
              </a:ext>
            </a:extLst>
          </a:blip>
          <a:srcRect l="38369" r="7163"/>
          <a:stretch/>
        </p:blipFill>
        <p:spPr>
          <a:xfrm>
            <a:off x="6549030" y="-79378"/>
            <a:ext cx="5738628" cy="7016756"/>
          </a:xfrm>
          <a:prstGeom prst="rect">
            <a:avLst/>
          </a:prstGeom>
        </p:spPr>
      </p:pic>
      <p:grpSp>
        <p:nvGrpSpPr>
          <p:cNvPr id="7" name="Grupo 6">
            <a:extLst>
              <a:ext uri="{FF2B5EF4-FFF2-40B4-BE49-F238E27FC236}">
                <a16:creationId xmlns:a16="http://schemas.microsoft.com/office/drawing/2014/main" id="{3089DBCA-FFA2-7FCA-0978-020F1612CD92}"/>
              </a:ext>
            </a:extLst>
          </p:cNvPr>
          <p:cNvGrpSpPr/>
          <p:nvPr/>
        </p:nvGrpSpPr>
        <p:grpSpPr>
          <a:xfrm>
            <a:off x="302002" y="-206018"/>
            <a:ext cx="11544754" cy="6812558"/>
            <a:chOff x="302002" y="-206018"/>
            <a:chExt cx="11544754" cy="6812558"/>
          </a:xfrm>
        </p:grpSpPr>
        <p:sp>
          <p:nvSpPr>
            <p:cNvPr id="11" name="Rectángulo 10">
              <a:extLst>
                <a:ext uri="{FF2B5EF4-FFF2-40B4-BE49-F238E27FC236}">
                  <a16:creationId xmlns:a16="http://schemas.microsoft.com/office/drawing/2014/main" id="{3C44C02C-081F-BED0-D6AD-14E853857BBA}"/>
                </a:ext>
              </a:extLst>
            </p:cNvPr>
            <p:cNvSpPr/>
            <p:nvPr/>
          </p:nvSpPr>
          <p:spPr>
            <a:xfrm>
              <a:off x="302002" y="907609"/>
              <a:ext cx="11544754" cy="5698931"/>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L">
                <a:latin typeface="Cambria" panose="02040503050406030204" pitchFamily="18" charset="0"/>
                <a:ea typeface="Cambria" panose="02040503050406030204" pitchFamily="18" charset="0"/>
              </a:endParaRPr>
            </a:p>
          </p:txBody>
        </p:sp>
        <p:grpSp>
          <p:nvGrpSpPr>
            <p:cNvPr id="6" name="Grupo 5">
              <a:extLst>
                <a:ext uri="{FF2B5EF4-FFF2-40B4-BE49-F238E27FC236}">
                  <a16:creationId xmlns:a16="http://schemas.microsoft.com/office/drawing/2014/main" id="{E15368CA-E4DB-7718-2A41-27F135DAB4D0}"/>
                </a:ext>
              </a:extLst>
            </p:cNvPr>
            <p:cNvGrpSpPr/>
            <p:nvPr/>
          </p:nvGrpSpPr>
          <p:grpSpPr>
            <a:xfrm>
              <a:off x="10266948" y="-206018"/>
              <a:ext cx="1339576" cy="1716660"/>
              <a:chOff x="10266948" y="-206018"/>
              <a:chExt cx="1339576" cy="1716660"/>
            </a:xfrm>
          </p:grpSpPr>
          <p:sp>
            <p:nvSpPr>
              <p:cNvPr id="14" name="Título 1">
                <a:extLst>
                  <a:ext uri="{FF2B5EF4-FFF2-40B4-BE49-F238E27FC236}">
                    <a16:creationId xmlns:a16="http://schemas.microsoft.com/office/drawing/2014/main" id="{BD4FDC23-8EEC-4944-2580-A2FC374CD2D0}"/>
                  </a:ext>
                </a:extLst>
              </p:cNvPr>
              <p:cNvSpPr txBox="1">
                <a:spLocks/>
              </p:cNvSpPr>
              <p:nvPr/>
            </p:nvSpPr>
            <p:spPr>
              <a:xfrm>
                <a:off x="10266948" y="-206018"/>
                <a:ext cx="1339576" cy="1716660"/>
              </a:xfrm>
              <a:prstGeom prst="rect">
                <a:avLst/>
              </a:prstGeom>
              <a:solidFill>
                <a:srgbClr val="002060"/>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dirty="0">
                    <a:solidFill>
                      <a:srgbClr val="FFFFFF"/>
                    </a:solidFill>
                    <a:latin typeface="Calibri"/>
                    <a:ea typeface="Calibri"/>
                    <a:cs typeface="Calibri Light"/>
                  </a:rPr>
                  <a:t>  </a:t>
                </a:r>
                <a:endParaRPr lang="es-ES" sz="2800" dirty="0">
                  <a:solidFill>
                    <a:srgbClr val="FFFFFF"/>
                  </a:solidFill>
                  <a:latin typeface="Calibri"/>
                  <a:ea typeface="Calibri"/>
                </a:endParaRPr>
              </a:p>
            </p:txBody>
          </p:sp>
          <p:pic>
            <p:nvPicPr>
              <p:cNvPr id="13" name="Imagen 12">
                <a:extLst>
                  <a:ext uri="{FF2B5EF4-FFF2-40B4-BE49-F238E27FC236}">
                    <a16:creationId xmlns:a16="http://schemas.microsoft.com/office/drawing/2014/main" id="{E22975E8-8974-FCA4-BF3D-C8A1AD8F6A79}"/>
                  </a:ext>
                </a:extLst>
              </p:cNvPr>
              <p:cNvPicPr>
                <a:picLocks noChangeAspect="1"/>
              </p:cNvPicPr>
              <p:nvPr/>
            </p:nvPicPr>
            <p:blipFill>
              <a:blip r:embed="rId4"/>
              <a:stretch>
                <a:fillRect/>
              </a:stretch>
            </p:blipFill>
            <p:spPr>
              <a:xfrm>
                <a:off x="10375523" y="394074"/>
                <a:ext cx="1151092" cy="973350"/>
              </a:xfrm>
              <a:prstGeom prst="rect">
                <a:avLst/>
              </a:prstGeom>
            </p:spPr>
          </p:pic>
        </p:grpSp>
      </p:grpSp>
      <p:sp>
        <p:nvSpPr>
          <p:cNvPr id="5" name="CuadroTexto 4">
            <a:extLst>
              <a:ext uri="{FF2B5EF4-FFF2-40B4-BE49-F238E27FC236}">
                <a16:creationId xmlns:a16="http://schemas.microsoft.com/office/drawing/2014/main" id="{C6FFEBCA-443A-A485-8CB8-8F346C8CD519}"/>
              </a:ext>
            </a:extLst>
          </p:cNvPr>
          <p:cNvSpPr txBox="1"/>
          <p:nvPr/>
        </p:nvSpPr>
        <p:spPr>
          <a:xfrm>
            <a:off x="1070349" y="2177245"/>
            <a:ext cx="5109838" cy="2708434"/>
          </a:xfrm>
          <a:prstGeom prst="rect">
            <a:avLst/>
          </a:prstGeom>
          <a:noFill/>
        </p:spPr>
        <p:txBody>
          <a:bodyPr wrap="square">
            <a:noAutofit/>
          </a:bodyPr>
          <a:lstStyle/>
          <a:p>
            <a:pPr algn="just"/>
            <a:r>
              <a:rPr lang="es-MX" sz="1700" i="0">
                <a:solidFill>
                  <a:srgbClr val="000000"/>
                </a:solidFill>
                <a:effectLst/>
                <a:latin typeface="Arial" panose="020B0604020202020204" pitchFamily="34" charset="0"/>
              </a:rPr>
              <a:t>Del dato original al resultado
F1 definió tres preguntas e indicadores.
F2 preparó 735.611 registros y eligió la mediana regional para 597 tallas faltantes.
F3 separó lectura, cálculo y medición.
F4 presenta tablas, figuras y límites del análisis.</a:t>
            </a:r>
            <a:endParaRPr lang="es-CL" sz="1700" dirty="0">
              <a:solidFill>
                <a:srgbClr val="000000"/>
              </a:solidFill>
              <a:latin typeface="Arial" panose="020B0604020202020204" pitchFamily="34" charset="0"/>
            </a:endParaRPr>
          </a:p>
        </p:txBody>
      </p:sp>
    </p:spTree>
    <p:extLst>
      <p:ext uri="{BB962C8B-B14F-4D97-AF65-F5344CB8AC3E}">
        <p14:creationId xmlns:p14="http://schemas.microsoft.com/office/powerpoint/2010/main" val="992093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upo 6">
            <a:extLst>
              <a:ext uri="{FF2B5EF4-FFF2-40B4-BE49-F238E27FC236}">
                <a16:creationId xmlns:a16="http://schemas.microsoft.com/office/drawing/2014/main" id="{3089DBCA-FFA2-7FCA-0978-020F1612CD92}"/>
              </a:ext>
            </a:extLst>
          </p:cNvPr>
          <p:cNvGrpSpPr/>
          <p:nvPr/>
        </p:nvGrpSpPr>
        <p:grpSpPr>
          <a:xfrm>
            <a:off x="302002" y="-206018"/>
            <a:ext cx="11544754" cy="6812558"/>
            <a:chOff x="302002" y="-206018"/>
            <a:chExt cx="11544754" cy="6812558"/>
          </a:xfrm>
        </p:grpSpPr>
        <p:sp>
          <p:nvSpPr>
            <p:cNvPr id="11" name="Rectángulo 10">
              <a:extLst>
                <a:ext uri="{FF2B5EF4-FFF2-40B4-BE49-F238E27FC236}">
                  <a16:creationId xmlns:a16="http://schemas.microsoft.com/office/drawing/2014/main" id="{3C44C02C-081F-BED0-D6AD-14E853857BBA}"/>
                </a:ext>
              </a:extLst>
            </p:cNvPr>
            <p:cNvSpPr/>
            <p:nvPr/>
          </p:nvSpPr>
          <p:spPr>
            <a:xfrm>
              <a:off x="302002" y="907609"/>
              <a:ext cx="11544754" cy="5698931"/>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L">
                <a:latin typeface="Cambria" panose="02040503050406030204" pitchFamily="18" charset="0"/>
                <a:ea typeface="Cambria" panose="02040503050406030204" pitchFamily="18" charset="0"/>
              </a:endParaRPr>
            </a:p>
          </p:txBody>
        </p:sp>
        <p:grpSp>
          <p:nvGrpSpPr>
            <p:cNvPr id="6" name="Grupo 5">
              <a:extLst>
                <a:ext uri="{FF2B5EF4-FFF2-40B4-BE49-F238E27FC236}">
                  <a16:creationId xmlns:a16="http://schemas.microsoft.com/office/drawing/2014/main" id="{E15368CA-E4DB-7718-2A41-27F135DAB4D0}"/>
                </a:ext>
              </a:extLst>
            </p:cNvPr>
            <p:cNvGrpSpPr/>
            <p:nvPr/>
          </p:nvGrpSpPr>
          <p:grpSpPr>
            <a:xfrm>
              <a:off x="10266948" y="-206018"/>
              <a:ext cx="1339576" cy="1716660"/>
              <a:chOff x="10266948" y="-206018"/>
              <a:chExt cx="1339576" cy="1716660"/>
            </a:xfrm>
          </p:grpSpPr>
          <p:sp>
            <p:nvSpPr>
              <p:cNvPr id="14" name="Título 1">
                <a:extLst>
                  <a:ext uri="{FF2B5EF4-FFF2-40B4-BE49-F238E27FC236}">
                    <a16:creationId xmlns:a16="http://schemas.microsoft.com/office/drawing/2014/main" id="{BD4FDC23-8EEC-4944-2580-A2FC374CD2D0}"/>
                  </a:ext>
                </a:extLst>
              </p:cNvPr>
              <p:cNvSpPr txBox="1">
                <a:spLocks/>
              </p:cNvSpPr>
              <p:nvPr/>
            </p:nvSpPr>
            <p:spPr>
              <a:xfrm>
                <a:off x="10266948" y="-206018"/>
                <a:ext cx="1339576" cy="1716660"/>
              </a:xfrm>
              <a:prstGeom prst="rect">
                <a:avLst/>
              </a:prstGeom>
              <a:solidFill>
                <a:srgbClr val="002060"/>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dirty="0">
                    <a:solidFill>
                      <a:srgbClr val="FFFFFF"/>
                    </a:solidFill>
                    <a:latin typeface="Calibri"/>
                    <a:ea typeface="Calibri"/>
                    <a:cs typeface="Calibri Light"/>
                  </a:rPr>
                  <a:t>  </a:t>
                </a:r>
                <a:endParaRPr lang="es-ES" sz="2800" dirty="0">
                  <a:solidFill>
                    <a:srgbClr val="FFFFFF"/>
                  </a:solidFill>
                  <a:latin typeface="Calibri"/>
                  <a:ea typeface="Calibri"/>
                </a:endParaRPr>
              </a:p>
            </p:txBody>
          </p:sp>
          <p:pic>
            <p:nvPicPr>
              <p:cNvPr id="13" name="Imagen 12">
                <a:extLst>
                  <a:ext uri="{FF2B5EF4-FFF2-40B4-BE49-F238E27FC236}">
                    <a16:creationId xmlns:a16="http://schemas.microsoft.com/office/drawing/2014/main" id="{E22975E8-8974-FCA4-BF3D-C8A1AD8F6A79}"/>
                  </a:ext>
                </a:extLst>
              </p:cNvPr>
              <p:cNvPicPr>
                <a:picLocks noChangeAspect="1"/>
              </p:cNvPicPr>
              <p:nvPr/>
            </p:nvPicPr>
            <p:blipFill>
              <a:blip r:embed="rId3"/>
              <a:stretch>
                <a:fillRect/>
              </a:stretch>
            </p:blipFill>
            <p:spPr>
              <a:xfrm>
                <a:off x="10375523" y="394074"/>
                <a:ext cx="1151092" cy="973350"/>
              </a:xfrm>
              <a:prstGeom prst="rect">
                <a:avLst/>
              </a:prstGeom>
            </p:spPr>
          </p:pic>
        </p:grpSp>
      </p:grpSp>
      <p:sp>
        <p:nvSpPr>
          <p:cNvPr id="4" name="Rectángulo 3">
            <a:extLst>
              <a:ext uri="{FF2B5EF4-FFF2-40B4-BE49-F238E27FC236}">
                <a16:creationId xmlns:a16="http://schemas.microsoft.com/office/drawing/2014/main" id="{ACD47DFB-493A-6667-77EE-9717D911E58D}"/>
              </a:ext>
            </a:extLst>
          </p:cNvPr>
          <p:cNvSpPr/>
          <p:nvPr/>
        </p:nvSpPr>
        <p:spPr>
          <a:xfrm>
            <a:off x="2115681" y="648352"/>
            <a:ext cx="7665317" cy="520700"/>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332" rtl="0" eaLnBrk="1" fontAlgn="auto" latinLnBrk="0" hangingPunct="1">
              <a:lnSpc>
                <a:spcPct val="100000"/>
              </a:lnSpc>
              <a:spcBef>
                <a:spcPts val="0"/>
              </a:spcBef>
              <a:spcAft>
                <a:spcPts val="0"/>
              </a:spcAft>
              <a:buClrTx/>
              <a:buSzTx/>
              <a:buFontTx/>
              <a:buNone/>
              <a:tabLst/>
              <a:defRPr/>
            </a:pPr>
            <a:r>
              <a:rPr kumimoji="0" lang="es-MX" u="none" strike="noStrike" kern="1200" cap="none" spc="0" normalizeH="0" baseline="0" noProof="0">
                <a:ln>
                  <a:noFill/>
                </a:ln>
                <a:solidFill>
                  <a:srgbClr val="FFFFFF"/>
                </a:solidFill>
                <a:effectLst/>
                <a:uLnTx/>
                <a:uFillTx/>
                <a:latin typeface="Arial" panose="020B0604020202020204" pitchFamily="34" charset="0"/>
                <a:ea typeface="Cambria" panose="02040503050406030204" pitchFamily="18" charset="0"/>
                <a:cs typeface="Calibri Light" panose="020F0302020204030204" pitchFamily="34" charset="0"/>
              </a:rPr>
              <a:t>MADRES MENORES DE 20 AÑOS POR REGIÓN</a:t>
            </a:r>
            <a:endParaRPr kumimoji="0" lang="es-CL" u="none" strike="noStrike" kern="1200" cap="none" spc="0" normalizeH="0" baseline="0" noProof="0" dirty="0">
              <a:ln>
                <a:noFill/>
              </a:ln>
              <a:solidFill>
                <a:srgbClr val="FFFFFF"/>
              </a:solidFill>
              <a:effectLst/>
              <a:uLnTx/>
              <a:uFillTx/>
              <a:latin typeface="Arial" panose="020B0604020202020204" pitchFamily="34" charset="0"/>
              <a:ea typeface="Cambria" panose="02040503050406030204" pitchFamily="18" charset="0"/>
              <a:cs typeface="Calibri Light" panose="020F0302020204030204" pitchFamily="34" charset="0"/>
            </a:endParaRPr>
          </a:p>
        </p:txBody>
      </p:sp>
      <p:pic>
        <p:nvPicPr>
          <p:cNvPr id="3" name="Picture 2">
            <a:extLst>
              <a:ext uri="{FF2B5EF4-FFF2-40B4-BE49-F238E27FC236}">
                <a16:creationId xmlns:a16="http://schemas.microsoft.com/office/drawing/2014/main" id="{038493B0-08BF-6D68-318E-A131704DE13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387600" y="1409700"/>
            <a:ext cx="7429500" cy="4152900"/>
          </a:xfrm>
          <a:prstGeom prst="rect">
            <a:avLst/>
          </a:prstGeom>
        </p:spPr>
      </p:pic>
      <p:sp>
        <p:nvSpPr>
          <p:cNvPr id="8" name="TextBox 7">
            <a:extLst>
              <a:ext uri="{FF2B5EF4-FFF2-40B4-BE49-F238E27FC236}">
                <a16:creationId xmlns:a16="http://schemas.microsoft.com/office/drawing/2014/main" id="{5EF95E14-9B7E-D5E4-1E43-27C98910BC56}"/>
              </a:ext>
            </a:extLst>
          </p:cNvPr>
          <p:cNvSpPr txBox="1"/>
          <p:nvPr/>
        </p:nvSpPr>
        <p:spPr>
          <a:xfrm>
            <a:off x="1714500" y="5765800"/>
            <a:ext cx="8763000" cy="369332"/>
          </a:xfrm>
          <a:prstGeom prst="rect">
            <a:avLst/>
          </a:prstGeom>
          <a:noFill/>
        </p:spPr>
        <p:txBody>
          <a:bodyPr vert="horz" wrap="square" lIns="0" tIns="0" rIns="0" bIns="0" rtlCol="0">
            <a:noAutofit/>
          </a:bodyPr>
          <a:lstStyle/>
          <a:p>
            <a:r>
              <a:rPr lang="es-MX" b="1">
                <a:solidFill>
                  <a:srgbClr val="002C6B"/>
                </a:solidFill>
                <a:latin typeface="Arial" panose="020B0604020202020204" pitchFamily="34" charset="0"/>
              </a:rPr>
              <a:t>Tarapacá: 6,37 %   Magallanes: 3,06 %   Brecha: 3,31 puntos</a:t>
            </a:r>
            <a:endParaRPr lang="en-US" b="1">
              <a:solidFill>
                <a:srgbClr val="002C6B"/>
              </a:solidFill>
              <a:latin typeface="Arial" panose="020B0604020202020204" pitchFamily="34" charset="0"/>
            </a:endParaRPr>
          </a:p>
        </p:txBody>
      </p:sp>
    </p:spTree>
    <p:extLst>
      <p:ext uri="{BB962C8B-B14F-4D97-AF65-F5344CB8AC3E}">
        <p14:creationId xmlns:p14="http://schemas.microsoft.com/office/powerpoint/2010/main" val="3985140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upo 6">
            <a:extLst>
              <a:ext uri="{FF2B5EF4-FFF2-40B4-BE49-F238E27FC236}">
                <a16:creationId xmlns:a16="http://schemas.microsoft.com/office/drawing/2014/main" id="{3089DBCA-FFA2-7FCA-0978-020F1612CD92}"/>
              </a:ext>
            </a:extLst>
          </p:cNvPr>
          <p:cNvGrpSpPr/>
          <p:nvPr/>
        </p:nvGrpSpPr>
        <p:grpSpPr>
          <a:xfrm>
            <a:off x="302002" y="-206018"/>
            <a:ext cx="11544754" cy="6812558"/>
            <a:chOff x="302002" y="-206018"/>
            <a:chExt cx="11544754" cy="6812558"/>
          </a:xfrm>
        </p:grpSpPr>
        <p:sp>
          <p:nvSpPr>
            <p:cNvPr id="11" name="Rectángulo 10">
              <a:extLst>
                <a:ext uri="{FF2B5EF4-FFF2-40B4-BE49-F238E27FC236}">
                  <a16:creationId xmlns:a16="http://schemas.microsoft.com/office/drawing/2014/main" id="{3C44C02C-081F-BED0-D6AD-14E853857BBA}"/>
                </a:ext>
              </a:extLst>
            </p:cNvPr>
            <p:cNvSpPr/>
            <p:nvPr/>
          </p:nvSpPr>
          <p:spPr>
            <a:xfrm>
              <a:off x="302002" y="907609"/>
              <a:ext cx="11544754" cy="5698931"/>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L">
                <a:latin typeface="Cambria" panose="02040503050406030204" pitchFamily="18" charset="0"/>
                <a:ea typeface="Cambria" panose="02040503050406030204" pitchFamily="18" charset="0"/>
              </a:endParaRPr>
            </a:p>
          </p:txBody>
        </p:sp>
        <p:grpSp>
          <p:nvGrpSpPr>
            <p:cNvPr id="6" name="Grupo 5">
              <a:extLst>
                <a:ext uri="{FF2B5EF4-FFF2-40B4-BE49-F238E27FC236}">
                  <a16:creationId xmlns:a16="http://schemas.microsoft.com/office/drawing/2014/main" id="{E15368CA-E4DB-7718-2A41-27F135DAB4D0}"/>
                </a:ext>
              </a:extLst>
            </p:cNvPr>
            <p:cNvGrpSpPr/>
            <p:nvPr/>
          </p:nvGrpSpPr>
          <p:grpSpPr>
            <a:xfrm>
              <a:off x="10266948" y="-206018"/>
              <a:ext cx="1339576" cy="1716660"/>
              <a:chOff x="10266948" y="-206018"/>
              <a:chExt cx="1339576" cy="1716660"/>
            </a:xfrm>
          </p:grpSpPr>
          <p:sp>
            <p:nvSpPr>
              <p:cNvPr id="14" name="Título 1">
                <a:extLst>
                  <a:ext uri="{FF2B5EF4-FFF2-40B4-BE49-F238E27FC236}">
                    <a16:creationId xmlns:a16="http://schemas.microsoft.com/office/drawing/2014/main" id="{BD4FDC23-8EEC-4944-2580-A2FC374CD2D0}"/>
                  </a:ext>
                </a:extLst>
              </p:cNvPr>
              <p:cNvSpPr txBox="1">
                <a:spLocks/>
              </p:cNvSpPr>
              <p:nvPr/>
            </p:nvSpPr>
            <p:spPr>
              <a:xfrm>
                <a:off x="10266948" y="-206018"/>
                <a:ext cx="1339576" cy="1716660"/>
              </a:xfrm>
              <a:prstGeom prst="rect">
                <a:avLst/>
              </a:prstGeom>
              <a:solidFill>
                <a:srgbClr val="002060"/>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dirty="0">
                    <a:solidFill>
                      <a:srgbClr val="FFFFFF"/>
                    </a:solidFill>
                    <a:latin typeface="Calibri"/>
                    <a:ea typeface="Calibri"/>
                    <a:cs typeface="Calibri Light"/>
                  </a:rPr>
                  <a:t>  </a:t>
                </a:r>
                <a:endParaRPr lang="es-ES" sz="2800" dirty="0">
                  <a:solidFill>
                    <a:srgbClr val="FFFFFF"/>
                  </a:solidFill>
                  <a:latin typeface="Calibri"/>
                  <a:ea typeface="Calibri"/>
                </a:endParaRPr>
              </a:p>
            </p:txBody>
          </p:sp>
          <p:pic>
            <p:nvPicPr>
              <p:cNvPr id="13" name="Imagen 12">
                <a:extLst>
                  <a:ext uri="{FF2B5EF4-FFF2-40B4-BE49-F238E27FC236}">
                    <a16:creationId xmlns:a16="http://schemas.microsoft.com/office/drawing/2014/main" id="{E22975E8-8974-FCA4-BF3D-C8A1AD8F6A79}"/>
                  </a:ext>
                </a:extLst>
              </p:cNvPr>
              <p:cNvPicPr>
                <a:picLocks noChangeAspect="1"/>
              </p:cNvPicPr>
              <p:nvPr/>
            </p:nvPicPr>
            <p:blipFill>
              <a:blip r:embed="rId3"/>
              <a:stretch>
                <a:fillRect/>
              </a:stretch>
            </p:blipFill>
            <p:spPr>
              <a:xfrm>
                <a:off x="10375523" y="394074"/>
                <a:ext cx="1151092" cy="973350"/>
              </a:xfrm>
              <a:prstGeom prst="rect">
                <a:avLst/>
              </a:prstGeom>
            </p:spPr>
          </p:pic>
        </p:grpSp>
      </p:grpSp>
      <p:sp>
        <p:nvSpPr>
          <p:cNvPr id="2" name="TextBox 1">
            <a:extLst>
              <a:ext uri="{FF2B5EF4-FFF2-40B4-BE49-F238E27FC236}">
                <a16:creationId xmlns:a16="http://schemas.microsoft.com/office/drawing/2014/main" id="{899A2E30-616D-1F0A-16A8-53E798FF47E1}"/>
              </a:ext>
            </a:extLst>
          </p:cNvPr>
          <p:cNvSpPr txBox="1"/>
          <p:nvPr/>
        </p:nvSpPr>
        <p:spPr>
          <a:xfrm>
            <a:off x="2159000" y="660400"/>
            <a:ext cx="7747000" cy="430887"/>
          </a:xfrm>
          <a:prstGeom prst="rect">
            <a:avLst/>
          </a:prstGeom>
          <a:noFill/>
        </p:spPr>
        <p:txBody>
          <a:bodyPr vert="horz" wrap="square" lIns="0" tIns="0" rIns="0" bIns="0" rtlCol="0">
            <a:noAutofit/>
          </a:bodyPr>
          <a:lstStyle/>
          <a:p>
            <a:r>
              <a:rPr lang="es-MX" sz="2200" b="1">
                <a:solidFill>
                  <a:srgbClr val="002C6B"/>
                </a:solidFill>
                <a:latin typeface="Arial" panose="020B0604020202020204" pitchFamily="34" charset="0"/>
              </a:rPr>
              <a:t>NACIMIENTOS POR MES Y AÑO</a:t>
            </a:r>
            <a:endParaRPr lang="en-US" sz="2200" b="1">
              <a:solidFill>
                <a:srgbClr val="002C6B"/>
              </a:solidFill>
              <a:latin typeface="Arial" panose="020B0604020202020204" pitchFamily="34" charset="0"/>
            </a:endParaRPr>
          </a:p>
        </p:txBody>
      </p:sp>
      <p:pic>
        <p:nvPicPr>
          <p:cNvPr id="4" name="Picture 3">
            <a:extLst>
              <a:ext uri="{FF2B5EF4-FFF2-40B4-BE49-F238E27FC236}">
                <a16:creationId xmlns:a16="http://schemas.microsoft.com/office/drawing/2014/main" id="{BAB7CB8D-F34D-4422-5F02-D3654DD2468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841500" y="1511300"/>
            <a:ext cx="8445500" cy="3962400"/>
          </a:xfrm>
          <a:prstGeom prst="rect">
            <a:avLst/>
          </a:prstGeom>
        </p:spPr>
      </p:pic>
      <p:sp>
        <p:nvSpPr>
          <p:cNvPr id="8" name="TextBox 7">
            <a:extLst>
              <a:ext uri="{FF2B5EF4-FFF2-40B4-BE49-F238E27FC236}">
                <a16:creationId xmlns:a16="http://schemas.microsoft.com/office/drawing/2014/main" id="{91461CF4-B863-5F68-3E7F-0FAF6550C4E1}"/>
              </a:ext>
            </a:extLst>
          </p:cNvPr>
          <p:cNvSpPr txBox="1"/>
          <p:nvPr/>
        </p:nvSpPr>
        <p:spPr>
          <a:xfrm>
            <a:off x="2286000" y="5702300"/>
            <a:ext cx="8255000" cy="369332"/>
          </a:xfrm>
          <a:prstGeom prst="rect">
            <a:avLst/>
          </a:prstGeom>
          <a:noFill/>
        </p:spPr>
        <p:txBody>
          <a:bodyPr vert="horz" wrap="square" lIns="0" tIns="0" rIns="0" bIns="0" rtlCol="0">
            <a:noAutofit/>
          </a:bodyPr>
          <a:lstStyle/>
          <a:p>
            <a:r>
              <a:rPr lang="es-MX" b="1">
                <a:solidFill>
                  <a:srgbClr val="002C6B"/>
                </a:solidFill>
                <a:latin typeface="Arial" panose="020B0604020202020204" pitchFamily="34" charset="0"/>
              </a:rPr>
              <a:t>Enero: 522,6 por día   Diciembre: 486,2 por día</a:t>
            </a:r>
            <a:endParaRPr lang="en-US" b="1">
              <a:solidFill>
                <a:srgbClr val="002C6B"/>
              </a:solidFill>
              <a:latin typeface="Arial" panose="020B0604020202020204" pitchFamily="34" charset="0"/>
            </a:endParaRPr>
          </a:p>
        </p:txBody>
      </p:sp>
    </p:spTree>
    <p:extLst>
      <p:ext uri="{BB962C8B-B14F-4D97-AF65-F5344CB8AC3E}">
        <p14:creationId xmlns:p14="http://schemas.microsoft.com/office/powerpoint/2010/main" val="2177544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upo 5">
            <a:extLst>
              <a:ext uri="{FF2B5EF4-FFF2-40B4-BE49-F238E27FC236}">
                <a16:creationId xmlns:a16="http://schemas.microsoft.com/office/drawing/2014/main" id="{A070F483-AB61-C427-D7C6-239D1EA8B968}"/>
              </a:ext>
            </a:extLst>
          </p:cNvPr>
          <p:cNvGrpSpPr/>
          <p:nvPr/>
        </p:nvGrpSpPr>
        <p:grpSpPr>
          <a:xfrm>
            <a:off x="302002" y="-206018"/>
            <a:ext cx="11544754" cy="6812558"/>
            <a:chOff x="302002" y="-206018"/>
            <a:chExt cx="11544754" cy="6812558"/>
          </a:xfrm>
        </p:grpSpPr>
        <p:sp>
          <p:nvSpPr>
            <p:cNvPr id="7" name="Rectángulo 6">
              <a:extLst>
                <a:ext uri="{FF2B5EF4-FFF2-40B4-BE49-F238E27FC236}">
                  <a16:creationId xmlns:a16="http://schemas.microsoft.com/office/drawing/2014/main" id="{4DF36094-0FB9-F3DC-C452-4398E244C0C0}"/>
                </a:ext>
              </a:extLst>
            </p:cNvPr>
            <p:cNvSpPr/>
            <p:nvPr/>
          </p:nvSpPr>
          <p:spPr>
            <a:xfrm>
              <a:off x="302002" y="907609"/>
              <a:ext cx="11544754" cy="5698931"/>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L">
                <a:latin typeface="Cambria" panose="02040503050406030204" pitchFamily="18" charset="0"/>
                <a:ea typeface="Cambria" panose="02040503050406030204" pitchFamily="18" charset="0"/>
              </a:endParaRPr>
            </a:p>
          </p:txBody>
        </p:sp>
        <p:grpSp>
          <p:nvGrpSpPr>
            <p:cNvPr id="9" name="Grupo 8">
              <a:extLst>
                <a:ext uri="{FF2B5EF4-FFF2-40B4-BE49-F238E27FC236}">
                  <a16:creationId xmlns:a16="http://schemas.microsoft.com/office/drawing/2014/main" id="{C5B80203-2053-0175-4EF5-B6B226A108A7}"/>
                </a:ext>
              </a:extLst>
            </p:cNvPr>
            <p:cNvGrpSpPr/>
            <p:nvPr/>
          </p:nvGrpSpPr>
          <p:grpSpPr>
            <a:xfrm>
              <a:off x="10266948" y="-206018"/>
              <a:ext cx="1339576" cy="1716660"/>
              <a:chOff x="10266948" y="-206018"/>
              <a:chExt cx="1339576" cy="1716660"/>
            </a:xfrm>
          </p:grpSpPr>
          <p:sp>
            <p:nvSpPr>
              <p:cNvPr id="10" name="Título 1">
                <a:extLst>
                  <a:ext uri="{FF2B5EF4-FFF2-40B4-BE49-F238E27FC236}">
                    <a16:creationId xmlns:a16="http://schemas.microsoft.com/office/drawing/2014/main" id="{B2F028C8-9C80-609F-0408-2AADF7DA5CB6}"/>
                  </a:ext>
                </a:extLst>
              </p:cNvPr>
              <p:cNvSpPr txBox="1">
                <a:spLocks/>
              </p:cNvSpPr>
              <p:nvPr/>
            </p:nvSpPr>
            <p:spPr>
              <a:xfrm>
                <a:off x="10266948" y="-206018"/>
                <a:ext cx="1339576" cy="1716660"/>
              </a:xfrm>
              <a:prstGeom prst="rect">
                <a:avLst/>
              </a:prstGeom>
              <a:solidFill>
                <a:srgbClr val="002060"/>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dirty="0">
                    <a:solidFill>
                      <a:srgbClr val="FFFFFF"/>
                    </a:solidFill>
                    <a:latin typeface="Calibri"/>
                    <a:ea typeface="Calibri"/>
                    <a:cs typeface="Calibri Light"/>
                  </a:rPr>
                  <a:t>  </a:t>
                </a:r>
                <a:endParaRPr lang="es-ES" sz="2800" dirty="0">
                  <a:solidFill>
                    <a:srgbClr val="FFFFFF"/>
                  </a:solidFill>
                  <a:latin typeface="Calibri"/>
                  <a:ea typeface="Calibri"/>
                </a:endParaRPr>
              </a:p>
            </p:txBody>
          </p:sp>
          <p:pic>
            <p:nvPicPr>
              <p:cNvPr id="12" name="Imagen 11">
                <a:extLst>
                  <a:ext uri="{FF2B5EF4-FFF2-40B4-BE49-F238E27FC236}">
                    <a16:creationId xmlns:a16="http://schemas.microsoft.com/office/drawing/2014/main" id="{D4F17F1F-FEAE-479F-8C9A-56C7C235285E}"/>
                  </a:ext>
                </a:extLst>
              </p:cNvPr>
              <p:cNvPicPr>
                <a:picLocks noChangeAspect="1"/>
              </p:cNvPicPr>
              <p:nvPr/>
            </p:nvPicPr>
            <p:blipFill>
              <a:blip r:embed="rId3"/>
              <a:stretch>
                <a:fillRect/>
              </a:stretch>
            </p:blipFill>
            <p:spPr>
              <a:xfrm>
                <a:off x="10375523" y="394074"/>
                <a:ext cx="1151092" cy="973350"/>
              </a:xfrm>
              <a:prstGeom prst="rect">
                <a:avLst/>
              </a:prstGeom>
            </p:spPr>
          </p:pic>
        </p:grpSp>
      </p:grpSp>
      <p:sp>
        <p:nvSpPr>
          <p:cNvPr id="15" name="Rectángulo 14">
            <a:extLst>
              <a:ext uri="{FF2B5EF4-FFF2-40B4-BE49-F238E27FC236}">
                <a16:creationId xmlns:a16="http://schemas.microsoft.com/office/drawing/2014/main" id="{271A28B1-078C-167A-05FF-22C362B423AF}"/>
              </a:ext>
            </a:extLst>
          </p:cNvPr>
          <p:cNvSpPr/>
          <p:nvPr/>
        </p:nvSpPr>
        <p:spPr>
          <a:xfrm>
            <a:off x="1463041" y="648352"/>
            <a:ext cx="8591812" cy="520700"/>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332" rtl="0" eaLnBrk="1" fontAlgn="auto" latinLnBrk="0" hangingPunct="1">
              <a:lnSpc>
                <a:spcPct val="100000"/>
              </a:lnSpc>
              <a:spcBef>
                <a:spcPts val="0"/>
              </a:spcBef>
              <a:spcAft>
                <a:spcPts val="0"/>
              </a:spcAft>
              <a:buClrTx/>
              <a:buSzTx/>
              <a:buFontTx/>
              <a:buNone/>
              <a:tabLst/>
              <a:defRPr/>
            </a:pPr>
            <a:r>
              <a:rPr kumimoji="0" lang="es-MX" u="none" strike="noStrike" kern="1200" cap="none" spc="0" normalizeH="0" baseline="0" noProof="0">
                <a:ln>
                  <a:noFill/>
                </a:ln>
                <a:solidFill>
                  <a:srgbClr val="FFFFFF"/>
                </a:solidFill>
                <a:effectLst/>
                <a:uLnTx/>
                <a:uFillTx/>
                <a:latin typeface="Arial" panose="020B0604020202020204" pitchFamily="34" charset="0"/>
                <a:ea typeface="Cambria" panose="02040503050406030204" pitchFamily="18" charset="0"/>
                <a:cs typeface="Calibri Light" panose="020F0302020204030204" pitchFamily="34" charset="0"/>
              </a:rPr>
              <a:t>TALLA MEDIA AL NACER POR REGIÓN</a:t>
            </a:r>
            <a:endParaRPr kumimoji="0" lang="es-CL" u="none" strike="noStrike" kern="1200" cap="none" spc="0" normalizeH="0" baseline="0" noProof="0" dirty="0">
              <a:ln>
                <a:noFill/>
              </a:ln>
              <a:solidFill>
                <a:srgbClr val="FFFFFF"/>
              </a:solidFill>
              <a:effectLst/>
              <a:uLnTx/>
              <a:uFillTx/>
              <a:latin typeface="Arial" panose="020B0604020202020204" pitchFamily="34" charset="0"/>
              <a:ea typeface="Cambria" panose="02040503050406030204" pitchFamily="18" charset="0"/>
              <a:cs typeface="Calibri Light" panose="020F0302020204030204" pitchFamily="34" charset="0"/>
            </a:endParaRPr>
          </a:p>
        </p:txBody>
      </p:sp>
      <p:pic>
        <p:nvPicPr>
          <p:cNvPr id="3" name="Picture 2">
            <a:extLst>
              <a:ext uri="{FF2B5EF4-FFF2-40B4-BE49-F238E27FC236}">
                <a16:creationId xmlns:a16="http://schemas.microsoft.com/office/drawing/2014/main" id="{9B059E81-5C1C-4DAD-469F-88E81EF0C00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374900" y="1409700"/>
            <a:ext cx="7429500" cy="4152900"/>
          </a:xfrm>
          <a:prstGeom prst="rect">
            <a:avLst/>
          </a:prstGeom>
        </p:spPr>
      </p:pic>
      <p:sp>
        <p:nvSpPr>
          <p:cNvPr id="11" name="TextBox 10">
            <a:extLst>
              <a:ext uri="{FF2B5EF4-FFF2-40B4-BE49-F238E27FC236}">
                <a16:creationId xmlns:a16="http://schemas.microsoft.com/office/drawing/2014/main" id="{5D8B6A05-A60E-4C92-414A-7A8530991ED3}"/>
              </a:ext>
            </a:extLst>
          </p:cNvPr>
          <p:cNvSpPr txBox="1"/>
          <p:nvPr/>
        </p:nvSpPr>
        <p:spPr>
          <a:xfrm>
            <a:off x="1600200" y="5765800"/>
            <a:ext cx="9144000" cy="369332"/>
          </a:xfrm>
          <a:prstGeom prst="rect">
            <a:avLst/>
          </a:prstGeom>
          <a:noFill/>
        </p:spPr>
        <p:txBody>
          <a:bodyPr vert="horz" wrap="square" lIns="0" tIns="0" rIns="0" bIns="0" rtlCol="0">
            <a:noAutofit/>
          </a:bodyPr>
          <a:lstStyle/>
          <a:p>
            <a:r>
              <a:rPr lang="es-MX" b="1">
                <a:solidFill>
                  <a:srgbClr val="002C6B"/>
                </a:solidFill>
                <a:latin typeface="Arial" panose="020B0604020202020204" pitchFamily="34" charset="0"/>
              </a:rPr>
              <a:t>Arica y Parinacota: 49,33 cm   Antofagasta: 48,62 cm</a:t>
            </a:r>
            <a:endParaRPr lang="en-US" b="1">
              <a:solidFill>
                <a:srgbClr val="002C6B"/>
              </a:solidFill>
              <a:latin typeface="Arial" panose="020B0604020202020204" pitchFamily="34" charset="0"/>
            </a:endParaRPr>
          </a:p>
        </p:txBody>
      </p:sp>
    </p:spTree>
    <p:extLst>
      <p:ext uri="{BB962C8B-B14F-4D97-AF65-F5344CB8AC3E}">
        <p14:creationId xmlns:p14="http://schemas.microsoft.com/office/powerpoint/2010/main" val="35541310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6199C253-ADD1-2B1F-2D90-1027D7E1F161}"/>
              </a:ext>
            </a:extLst>
          </p:cNvPr>
          <p:cNvSpPr/>
          <p:nvPr/>
        </p:nvSpPr>
        <p:spPr>
          <a:xfrm rot="16200000">
            <a:off x="3418037" y="3835882"/>
            <a:ext cx="4490448" cy="45719"/>
          </a:xfrm>
          <a:prstGeom prst="rect">
            <a:avLst/>
          </a:prstGeom>
          <a:solidFill>
            <a:schemeClr val="bg1">
              <a:lumMod val="85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L"/>
          </a:p>
        </p:txBody>
      </p:sp>
      <p:grpSp>
        <p:nvGrpSpPr>
          <p:cNvPr id="6" name="Grupo 5">
            <a:extLst>
              <a:ext uri="{FF2B5EF4-FFF2-40B4-BE49-F238E27FC236}">
                <a16:creationId xmlns:a16="http://schemas.microsoft.com/office/drawing/2014/main" id="{4E6FC7F7-3521-BB68-C3D3-9A491781D8B5}"/>
              </a:ext>
            </a:extLst>
          </p:cNvPr>
          <p:cNvGrpSpPr/>
          <p:nvPr/>
        </p:nvGrpSpPr>
        <p:grpSpPr>
          <a:xfrm>
            <a:off x="302002" y="-206018"/>
            <a:ext cx="11544754" cy="6812558"/>
            <a:chOff x="302002" y="-206018"/>
            <a:chExt cx="11544754" cy="6812558"/>
          </a:xfrm>
        </p:grpSpPr>
        <p:sp>
          <p:nvSpPr>
            <p:cNvPr id="7" name="Rectángulo 6">
              <a:extLst>
                <a:ext uri="{FF2B5EF4-FFF2-40B4-BE49-F238E27FC236}">
                  <a16:creationId xmlns:a16="http://schemas.microsoft.com/office/drawing/2014/main" id="{116602A7-55D7-5653-E0ED-CB5206D7FFCB}"/>
                </a:ext>
              </a:extLst>
            </p:cNvPr>
            <p:cNvSpPr/>
            <p:nvPr/>
          </p:nvSpPr>
          <p:spPr>
            <a:xfrm>
              <a:off x="302002" y="907609"/>
              <a:ext cx="11544754" cy="5698931"/>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L">
                <a:latin typeface="Cambria" panose="02040503050406030204" pitchFamily="18" charset="0"/>
                <a:ea typeface="Cambria" panose="02040503050406030204" pitchFamily="18" charset="0"/>
              </a:endParaRPr>
            </a:p>
          </p:txBody>
        </p:sp>
        <p:grpSp>
          <p:nvGrpSpPr>
            <p:cNvPr id="8" name="Grupo 7">
              <a:extLst>
                <a:ext uri="{FF2B5EF4-FFF2-40B4-BE49-F238E27FC236}">
                  <a16:creationId xmlns:a16="http://schemas.microsoft.com/office/drawing/2014/main" id="{F2D505FF-28DB-D50A-9433-9B23281FA2F9}"/>
                </a:ext>
              </a:extLst>
            </p:cNvPr>
            <p:cNvGrpSpPr/>
            <p:nvPr/>
          </p:nvGrpSpPr>
          <p:grpSpPr>
            <a:xfrm>
              <a:off x="10266948" y="-206018"/>
              <a:ext cx="1339576" cy="1716660"/>
              <a:chOff x="10266948" y="-206018"/>
              <a:chExt cx="1339576" cy="1716660"/>
            </a:xfrm>
          </p:grpSpPr>
          <p:sp>
            <p:nvSpPr>
              <p:cNvPr id="10" name="Título 1">
                <a:extLst>
                  <a:ext uri="{FF2B5EF4-FFF2-40B4-BE49-F238E27FC236}">
                    <a16:creationId xmlns:a16="http://schemas.microsoft.com/office/drawing/2014/main" id="{36DD721A-40AF-E3DC-A419-6A0CEF27D276}"/>
                  </a:ext>
                </a:extLst>
              </p:cNvPr>
              <p:cNvSpPr txBox="1">
                <a:spLocks/>
              </p:cNvSpPr>
              <p:nvPr/>
            </p:nvSpPr>
            <p:spPr>
              <a:xfrm>
                <a:off x="10266948" y="-206018"/>
                <a:ext cx="1339576" cy="1716660"/>
              </a:xfrm>
              <a:prstGeom prst="rect">
                <a:avLst/>
              </a:prstGeom>
              <a:solidFill>
                <a:srgbClr val="002060"/>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dirty="0">
                    <a:solidFill>
                      <a:srgbClr val="FFFFFF"/>
                    </a:solidFill>
                    <a:latin typeface="Calibri"/>
                    <a:ea typeface="Calibri"/>
                    <a:cs typeface="Calibri Light"/>
                  </a:rPr>
                  <a:t>  </a:t>
                </a:r>
                <a:endParaRPr lang="es-ES" sz="2800" dirty="0">
                  <a:solidFill>
                    <a:srgbClr val="FFFFFF"/>
                  </a:solidFill>
                  <a:latin typeface="Calibri"/>
                  <a:ea typeface="Calibri"/>
                </a:endParaRPr>
              </a:p>
            </p:txBody>
          </p:sp>
          <p:pic>
            <p:nvPicPr>
              <p:cNvPr id="12" name="Imagen 11">
                <a:extLst>
                  <a:ext uri="{FF2B5EF4-FFF2-40B4-BE49-F238E27FC236}">
                    <a16:creationId xmlns:a16="http://schemas.microsoft.com/office/drawing/2014/main" id="{800BB6D5-BCF8-E8E5-9BF0-16A46BB78793}"/>
                  </a:ext>
                </a:extLst>
              </p:cNvPr>
              <p:cNvPicPr>
                <a:picLocks noChangeAspect="1"/>
              </p:cNvPicPr>
              <p:nvPr/>
            </p:nvPicPr>
            <p:blipFill>
              <a:blip r:embed="rId3"/>
              <a:stretch>
                <a:fillRect/>
              </a:stretch>
            </p:blipFill>
            <p:spPr>
              <a:xfrm>
                <a:off x="10375523" y="394074"/>
                <a:ext cx="1151092" cy="973350"/>
              </a:xfrm>
              <a:prstGeom prst="rect">
                <a:avLst/>
              </a:prstGeom>
            </p:spPr>
          </p:pic>
        </p:grpSp>
      </p:grpSp>
      <p:sp>
        <p:nvSpPr>
          <p:cNvPr id="9" name="Title 8">
            <a:extLst>
              <a:ext uri="{FF2B5EF4-FFF2-40B4-BE49-F238E27FC236}">
                <a16:creationId xmlns:a16="http://schemas.microsoft.com/office/drawing/2014/main" id="{5D25B269-F1BC-FEFB-FEC3-033A8A33BAC5}"/>
              </a:ext>
            </a:extLst>
          </p:cNvPr>
          <p:cNvSpPr>
            <a:spLocks noGrp="1"/>
          </p:cNvSpPr>
          <p:nvPr>
            <p:ph type="title"/>
          </p:nvPr>
        </p:nvSpPr>
        <p:spPr/>
        <p:txBody>
          <a:bodyPr/>
          <a:lstStyle/>
          <a:p>
            <a:endParaRPr lang="en-US"/>
          </a:p>
        </p:txBody>
      </p:sp>
      <p:sp>
        <p:nvSpPr>
          <p:cNvPr id="13" name="Content Placeholder 12">
            <a:extLst>
              <a:ext uri="{FF2B5EF4-FFF2-40B4-BE49-F238E27FC236}">
                <a16:creationId xmlns:a16="http://schemas.microsoft.com/office/drawing/2014/main" id="{C2100BBB-CDAA-0C7C-77B0-BCFA8A0F8FEC}"/>
              </a:ext>
            </a:extLst>
          </p:cNvPr>
          <p:cNvSpPr>
            <a:spLocks noGrp="1"/>
          </p:cNvSpPr>
          <p:nvPr>
            <p:ph idx="1"/>
          </p:nvPr>
        </p:nvSpPr>
        <p:spPr/>
        <p:txBody>
          <a:bodyPr/>
          <a:lstStyle/>
          <a:p>
            <a:endParaRPr lang="en-US"/>
          </a:p>
        </p:txBody>
      </p:sp>
      <p:sp>
        <p:nvSpPr>
          <p:cNvPr id="14" name="TextBox 13">
            <a:extLst>
              <a:ext uri="{FF2B5EF4-FFF2-40B4-BE49-F238E27FC236}">
                <a16:creationId xmlns:a16="http://schemas.microsoft.com/office/drawing/2014/main" id="{5D073F9F-A0A4-4BCC-3B16-DD8630301090}"/>
              </a:ext>
            </a:extLst>
          </p:cNvPr>
          <p:cNvSpPr txBox="1"/>
          <p:nvPr/>
        </p:nvSpPr>
        <p:spPr>
          <a:xfrm>
            <a:off x="1981200" y="2679700"/>
            <a:ext cx="3365500" cy="954107"/>
          </a:xfrm>
          <a:prstGeom prst="rect">
            <a:avLst/>
          </a:prstGeom>
          <a:noFill/>
        </p:spPr>
        <p:txBody>
          <a:bodyPr vert="horz" wrap="square" lIns="0" tIns="0" rIns="0" bIns="0" rtlCol="0">
            <a:noAutofit/>
          </a:bodyPr>
          <a:lstStyle/>
          <a:p>
            <a:r>
              <a:rPr lang="en-US" sz="2800">
                <a:solidFill>
                  <a:srgbClr val="002C6B"/>
                </a:solidFill>
                <a:latin typeface="Arial" panose="020B0604020202020204" pitchFamily="34" charset="0"/>
              </a:rPr>
              <a:t>EFICIENCIA
Y CONTROLES</a:t>
            </a:r>
          </a:p>
        </p:txBody>
      </p:sp>
      <p:sp>
        <p:nvSpPr>
          <p:cNvPr id="15" name="TextBox 14">
            <a:extLst>
              <a:ext uri="{FF2B5EF4-FFF2-40B4-BE49-F238E27FC236}">
                <a16:creationId xmlns:a16="http://schemas.microsoft.com/office/drawing/2014/main" id="{6403F7A1-ED81-5393-03C1-8F77C97726E7}"/>
              </a:ext>
            </a:extLst>
          </p:cNvPr>
          <p:cNvSpPr txBox="1"/>
          <p:nvPr/>
        </p:nvSpPr>
        <p:spPr>
          <a:xfrm>
            <a:off x="6108700" y="1676400"/>
            <a:ext cx="5080000" cy="3016210"/>
          </a:xfrm>
          <a:prstGeom prst="rect">
            <a:avLst/>
          </a:prstGeom>
          <a:noFill/>
        </p:spPr>
        <p:txBody>
          <a:bodyPr vert="horz" wrap="square" lIns="0" tIns="0" rIns="0" bIns="0" rtlCol="0">
            <a:noAutofit/>
          </a:bodyPr>
          <a:lstStyle/>
          <a:p>
            <a:r>
              <a:rPr lang="en-US" sz="1900">
                <a:solidFill>
                  <a:srgbClr val="002C6B"/>
                </a:solidFill>
                <a:latin typeface="Arial" panose="020B0604020202020204" pitchFamily="34" charset="0"/>
              </a:rPr>
              <a:t>Indicador regional
Bucle: 0,1423 s
groupby: 0,0090 s
Lectura del CSV
25 columnas: 408,08 MB
6 columnas: 127,30 MB
Verificamos resultados equivalentes antes de medir.</a:t>
            </a:r>
          </a:p>
        </p:txBody>
      </p:sp>
    </p:spTree>
    <p:extLst>
      <p:ext uri="{BB962C8B-B14F-4D97-AF65-F5344CB8AC3E}">
        <p14:creationId xmlns:p14="http://schemas.microsoft.com/office/powerpoint/2010/main" val="18698331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D903B572-7AB0-4369-C487-D62538C3B61C}"/>
              </a:ext>
            </a:extLst>
          </p:cNvPr>
          <p:cNvPicPr>
            <a:picLocks noChangeAspect="1"/>
          </p:cNvPicPr>
          <p:nvPr/>
        </p:nvPicPr>
        <p:blipFill>
          <a:blip r:embed="rId4"/>
          <a:stretch>
            <a:fillRect/>
          </a:stretch>
        </p:blipFill>
        <p:spPr>
          <a:xfrm>
            <a:off x="5232400" y="2606876"/>
            <a:ext cx="1727200" cy="1460500"/>
          </a:xfrm>
          <a:prstGeom prst="rect">
            <a:avLst/>
          </a:prstGeom>
        </p:spPr>
      </p:pic>
      <p:sp>
        <p:nvSpPr>
          <p:cNvPr id="2" name="TextBox 1">
            <a:extLst>
              <a:ext uri="{FF2B5EF4-FFF2-40B4-BE49-F238E27FC236}">
                <a16:creationId xmlns:a16="http://schemas.microsoft.com/office/drawing/2014/main" id="{5999554E-CBCA-1CA4-5085-12269ECBEFC9}"/>
              </a:ext>
            </a:extLst>
          </p:cNvPr>
          <p:cNvSpPr txBox="1"/>
          <p:nvPr/>
        </p:nvSpPr>
        <p:spPr>
          <a:xfrm>
            <a:off x="2476500" y="571500"/>
            <a:ext cx="7620000" cy="569387"/>
          </a:xfrm>
          <a:prstGeom prst="rect">
            <a:avLst/>
          </a:prstGeom>
          <a:noFill/>
        </p:spPr>
        <p:txBody>
          <a:bodyPr vert="horz" wrap="square" lIns="0" tIns="0" rIns="0" bIns="0" rtlCol="0">
            <a:noAutofit/>
          </a:bodyPr>
          <a:lstStyle/>
          <a:p>
            <a:r>
              <a:rPr lang="en-US" sz="3100" b="1">
                <a:solidFill>
                  <a:srgbClr val="FFFFFF"/>
                </a:solidFill>
                <a:latin typeface="Arial" panose="020B0604020202020204" pitchFamily="34" charset="0"/>
              </a:rPr>
              <a:t>CONCLUSIONES Y LÍMITES</a:t>
            </a:r>
          </a:p>
        </p:txBody>
      </p:sp>
      <p:sp>
        <p:nvSpPr>
          <p:cNvPr id="3" name="TextBox 2">
            <a:extLst>
              <a:ext uri="{FF2B5EF4-FFF2-40B4-BE49-F238E27FC236}">
                <a16:creationId xmlns:a16="http://schemas.microsoft.com/office/drawing/2014/main" id="{C645A0DD-7F7B-0026-E0D3-7600C2B487EA}"/>
              </a:ext>
            </a:extLst>
          </p:cNvPr>
          <p:cNvSpPr txBox="1"/>
          <p:nvPr/>
        </p:nvSpPr>
        <p:spPr>
          <a:xfrm>
            <a:off x="2032000" y="4406900"/>
            <a:ext cx="8318500" cy="1661993"/>
          </a:xfrm>
          <a:prstGeom prst="rect">
            <a:avLst/>
          </a:prstGeom>
          <a:noFill/>
        </p:spPr>
        <p:txBody>
          <a:bodyPr vert="horz" wrap="square" lIns="0" tIns="0" rIns="0" bIns="0" rtlCol="0">
            <a:noAutofit/>
          </a:bodyPr>
          <a:lstStyle/>
          <a:p>
            <a:r>
              <a:rPr lang="es-MX" sz="1700">
                <a:solidFill>
                  <a:srgbClr val="FFFFFF"/>
                </a:solidFill>
                <a:latin typeface="Arial" panose="020B0604020202020204" pitchFamily="34" charset="0"/>
              </a:rPr>
              <a:t>Respondimos las tres preguntas originales.
Los p-values globales son exploratorios; el tamaño de la serie permite detectar diferencias pequeñas.
La serie 2020–2023 describe patrones, pero no permite identificar sus causas.</a:t>
            </a:r>
            <a:endParaRPr lang="en-US" sz="1700">
              <a:solidFill>
                <a:srgbClr val="FFFFFF"/>
              </a:solidFill>
              <a:latin typeface="Arial" panose="020B0604020202020204" pitchFamily="34" charset="0"/>
            </a:endParaRPr>
          </a:p>
        </p:txBody>
      </p:sp>
    </p:spTree>
    <p:extLst>
      <p:ext uri="{BB962C8B-B14F-4D97-AF65-F5344CB8AC3E}">
        <p14:creationId xmlns:p14="http://schemas.microsoft.com/office/powerpoint/2010/main" val="2207412846"/>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2029</TotalTime>
  <Words>463</Words>
  <Application>Microsoft Office PowerPoint</Application>
  <PresentationFormat>Widescreen</PresentationFormat>
  <Paragraphs>33</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Calibri Light</vt:lpstr>
      <vt:lpstr>Cambria</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Robert Aldo Pardo Silva</dc:creator>
  <cp:lastModifiedBy>Cristian Hurtado cabezas</cp:lastModifiedBy>
  <cp:revision>21</cp:revision>
  <dcterms:created xsi:type="dcterms:W3CDTF">2023-10-13T18:05:47Z</dcterms:created>
  <dcterms:modified xsi:type="dcterms:W3CDTF">2026-10-02T02:28:07Z</dcterms:modified>
</cp:coreProperties>
</file>