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"/>
  </p:notesMasterIdLst>
  <p:sldIdLst>
    <p:sldId id="2076137175" r:id="rId2"/>
    <p:sldId id="2076137358" r:id="rId3"/>
    <p:sldId id="2076137359" r:id="rId4"/>
    <p:sldId id="2076137360" r:id="rId5"/>
    <p:sldId id="2076137338" r:id="rId6"/>
    <p:sldId id="207613735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46A"/>
    <a:srgbClr val="FFCCCC"/>
    <a:srgbClr val="800000"/>
    <a:srgbClr val="680000"/>
    <a:srgbClr val="FF99CC"/>
    <a:srgbClr val="FF00FF"/>
    <a:srgbClr val="CC0099"/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05"/>
    <p:restoredTop sz="94674"/>
  </p:normalViewPr>
  <p:slideViewPr>
    <p:cSldViewPr snapToGrid="0">
      <p:cViewPr varScale="1">
        <p:scale>
          <a:sx n="59" d="100"/>
          <a:sy n="59" d="100"/>
        </p:scale>
        <p:origin x="101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02-10-2026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Presentar a Cristian, Jorge, Renzo y Luis. Cada fila representa un nacido vivo registrado. El proyecto responde tres preguntas descriptivas definidas en F1. Fuente: DEIS/MINSAL.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85B4-8D15-40BA-BE63-8F85761BC2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519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Explicar la continuidad entre fases. El notebook F4 verifica las 735.611 filas, las 16 regiones, los 48 pares año-mes y la huella del archivo original.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85B4-8D15-40BA-BE63-8F85761BC2A6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3188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Denominador: todos los nacidos vivos por región de residencia materna. Los intervalos de Wilson muestran incertidumbre bajo un modelo binomial. No es una tasa de embarazo adolescente.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85B4-8D15-40BA-BE63-8F85761BC2A6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22311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conteos se dividen por días calendario de cada mes y año; febrero de 2020 incluye 29 días. Las líneas muestran variación interanual. No atribuimos causalidad a la pandemia.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85B4-8D15-40BA-BE63-8F85761BC2A6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32119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F2 aplicó mediana regional a 597 tallas faltantes. Sin esas imputaciones, las mismas regiones permanecen en los extremos; el mayor cambio regional fue 0,0008 cm.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85B4-8D15-40BA-BE63-8F85761BC2A6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06034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Cierre: retomar las tres preguntas y las unidades de cada resultado. La asociación entre región y maternidad menor de 20 años tuvo V de Cramér 0,036, pequeña pese al p-value bajo. Proponer ampliar la serie histórica y separar tendencia anual de estacionalidad.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2D85B4-8D15-40BA-BE63-8F85761BC2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05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02-10-2026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1717331" y="2894648"/>
            <a:ext cx="8757337" cy="7417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900">
                <a:solidFill>
                  <a:srgbClr val="FFFFFF"/>
                </a:solidFill>
                <a:latin typeface="Arial" panose="020B0604020202020204" pitchFamily="34" charset="0"/>
                <a:cs typeface="Calibri Light"/>
              </a:rPr>
              <a:t>Nacimientos en Chile entre 2020 y 2023</a:t>
            </a:r>
            <a:endParaRPr lang="es-ES" sz="29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B233B7-7A13-619B-C4AD-4E4299F9F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4906" y="1086558"/>
            <a:ext cx="1727200" cy="14605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3218270" y="3677840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3485398" y="3818300"/>
            <a:ext cx="6613130" cy="1098395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2000">
                <a:solidFill>
                  <a:srgbClr val="FFFFFF"/>
                </a:solidFill>
                <a:latin typeface="Arial" panose="020B0604020202020204" pitchFamily="34" charset="0"/>
                <a:cs typeface="Calibri"/>
              </a:rPr>
              <a:t>Proyecto final integrador · Fase 4 · Grupo 2</a:t>
            </a:r>
            <a:endParaRPr lang="es-ES" sz="2000" dirty="0">
              <a:solidFill>
                <a:srgbClr val="FFFFFF"/>
              </a:solidFill>
              <a:latin typeface="Arial" panose="020B0604020202020204" pitchFamily="34" charset="0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5805270" y="6541035"/>
            <a:ext cx="1426836" cy="425644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>
                <a:solidFill>
                  <a:srgbClr val="FFFFFF"/>
                </a:solidFill>
                <a:latin typeface="Arial" panose="020B0604020202020204" pitchFamily="34" charset="0"/>
                <a:ea typeface="Calibri"/>
                <a:cs typeface="Calibri"/>
              </a:rPr>
              <a:t>OCTUBRE 2026</a:t>
            </a:r>
            <a:endParaRPr lang="es-ES" sz="1200" dirty="0">
              <a:solidFill>
                <a:srgbClr val="FFFFFF"/>
              </a:solidFill>
              <a:latin typeface="Arial" panose="020B0604020202020204" pitchFamily="34" charset="0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EE738EC-B53A-ABCD-9FA6-598A4911906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69" r="7163"/>
          <a:stretch/>
        </p:blipFill>
        <p:spPr>
          <a:xfrm>
            <a:off x="6549030" y="-79378"/>
            <a:ext cx="5738628" cy="7016756"/>
          </a:xfrm>
          <a:prstGeom prst="rect">
            <a:avLst/>
          </a:prstGeom>
        </p:spPr>
      </p:pic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002060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C6FFEBCA-443A-A485-8CB8-8F346C8CD519}"/>
              </a:ext>
            </a:extLst>
          </p:cNvPr>
          <p:cNvSpPr txBox="1"/>
          <p:nvPr/>
        </p:nvSpPr>
        <p:spPr>
          <a:xfrm>
            <a:off x="1070349" y="2177245"/>
            <a:ext cx="5109838" cy="270843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/>
            <a:r>
              <a:rPr lang="es-MX" sz="1700" i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Del dato original al resultado
F1 definió tres preguntas e indicadores.
F2 preparó 735.611 registros y eligió la mediana regional para 597 tallas faltantes.
F3 separó lectura, cálculo y medición.
F4 presenta tablas, figuras y límites del análisis.</a:t>
            </a:r>
            <a:endParaRPr lang="es-CL" sz="17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09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002060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MADRES MENORES DE 20 AÑOS POR REGIÓN</a:t>
            </a:r>
            <a:endParaRPr kumimoji="0" lang="es-CL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Cambria" panose="02040503050406030204" pitchFamily="18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8493B0-08BF-6D68-318E-A131704DE13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600" y="1409700"/>
            <a:ext cx="7429500" cy="4152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F95E14-9B7E-D5E4-1E43-27C98910BC56}"/>
              </a:ext>
            </a:extLst>
          </p:cNvPr>
          <p:cNvSpPr txBox="1"/>
          <p:nvPr/>
        </p:nvSpPr>
        <p:spPr>
          <a:xfrm>
            <a:off x="1714500" y="57658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MX" b="1">
                <a:solidFill>
                  <a:srgbClr val="002C6B"/>
                </a:solidFill>
                <a:latin typeface="Arial" panose="020B0604020202020204" pitchFamily="34" charset="0"/>
              </a:rPr>
              <a:t>Tarapacá: 6,37 %   Magallanes: 3,06 %   Brecha: 3,31 puntos</a:t>
            </a:r>
            <a:endParaRPr lang="en-US" b="1">
              <a:solidFill>
                <a:srgbClr val="002C6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002060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9A2E30-616D-1F0A-16A8-53E798FF47E1}"/>
              </a:ext>
            </a:extLst>
          </p:cNvPr>
          <p:cNvSpPr txBox="1"/>
          <p:nvPr/>
        </p:nvSpPr>
        <p:spPr>
          <a:xfrm>
            <a:off x="2159000" y="660400"/>
            <a:ext cx="7747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MX" sz="2200" b="1">
                <a:solidFill>
                  <a:srgbClr val="002C6B"/>
                </a:solidFill>
                <a:latin typeface="Arial" panose="020B0604020202020204" pitchFamily="34" charset="0"/>
              </a:rPr>
              <a:t>NACIMIENTOS POR MES Y AÑO</a:t>
            </a:r>
            <a:endParaRPr lang="en-US" sz="2200" b="1">
              <a:solidFill>
                <a:srgbClr val="002C6B"/>
              </a:solidFill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7CB8D-F34D-4422-5F02-D3654DD2468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0" y="1511300"/>
            <a:ext cx="8445500" cy="3962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461CF4-B863-5F68-3E7F-0FAF6550C4E1}"/>
              </a:ext>
            </a:extLst>
          </p:cNvPr>
          <p:cNvSpPr txBox="1"/>
          <p:nvPr/>
        </p:nvSpPr>
        <p:spPr>
          <a:xfrm>
            <a:off x="2286000" y="5702300"/>
            <a:ext cx="825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MX" b="1">
                <a:solidFill>
                  <a:srgbClr val="002C6B"/>
                </a:solidFill>
                <a:latin typeface="Arial" panose="020B0604020202020204" pitchFamily="34" charset="0"/>
              </a:rPr>
              <a:t>Enero: 522,6 por día   Diciembre: 486,2 por día</a:t>
            </a:r>
            <a:endParaRPr lang="en-US" b="1">
              <a:solidFill>
                <a:srgbClr val="002C6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544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A070F483-AB61-C427-D7C6-239D1EA8B968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4DF36094-0FB9-F3DC-C452-4398E244C0C0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C5B80203-2053-0175-4EF5-B6B226A108A7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0" name="Título 1">
                <a:extLst>
                  <a:ext uri="{FF2B5EF4-FFF2-40B4-BE49-F238E27FC236}">
                    <a16:creationId xmlns:a16="http://schemas.microsoft.com/office/drawing/2014/main" id="{B2F028C8-9C80-609F-0408-2AADF7DA5C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002060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2" name="Imagen 11">
                <a:extLst>
                  <a:ext uri="{FF2B5EF4-FFF2-40B4-BE49-F238E27FC236}">
                    <a16:creationId xmlns:a16="http://schemas.microsoft.com/office/drawing/2014/main" id="{D4F17F1F-FEAE-479F-8C9A-56C7C23528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71A28B1-078C-167A-05FF-22C362B423AF}"/>
              </a:ext>
            </a:extLst>
          </p:cNvPr>
          <p:cNvSpPr/>
          <p:nvPr/>
        </p:nvSpPr>
        <p:spPr>
          <a:xfrm>
            <a:off x="1463041" y="648352"/>
            <a:ext cx="8591812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TALLA MEDIA AL NACER POR REGIÓN</a:t>
            </a:r>
            <a:endParaRPr kumimoji="0" lang="es-CL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Cambria" panose="02040503050406030204" pitchFamily="18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059E81-5C1C-4DAD-469F-88E81EF0C00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4900" y="1409700"/>
            <a:ext cx="7429500" cy="4152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8B6A05-A60E-4C92-414A-7A8530991ED3}"/>
              </a:ext>
            </a:extLst>
          </p:cNvPr>
          <p:cNvSpPr txBox="1"/>
          <p:nvPr/>
        </p:nvSpPr>
        <p:spPr>
          <a:xfrm>
            <a:off x="1600200" y="576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MX" b="1">
                <a:solidFill>
                  <a:srgbClr val="002C6B"/>
                </a:solidFill>
                <a:latin typeface="Arial" panose="020B0604020202020204" pitchFamily="34" charset="0"/>
              </a:rPr>
              <a:t>Arica y Parinacota: 49,33 cm   Antofagasta: 48,62 cm</a:t>
            </a:r>
            <a:endParaRPr lang="en-US" b="1">
              <a:solidFill>
                <a:srgbClr val="002C6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131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99554E-CBCA-1CA4-5085-12269ECBEFC9}"/>
              </a:ext>
            </a:extLst>
          </p:cNvPr>
          <p:cNvSpPr txBox="1"/>
          <p:nvPr/>
        </p:nvSpPr>
        <p:spPr>
          <a:xfrm>
            <a:off x="2476500" y="571500"/>
            <a:ext cx="7620000" cy="56938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100" b="1">
                <a:solidFill>
                  <a:srgbClr val="FFFFFF"/>
                </a:solidFill>
                <a:latin typeface="Arial" panose="020B0604020202020204" pitchFamily="34" charset="0"/>
              </a:rPr>
              <a:t>CONCLUSIONES Y LÍMITES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45A0DD-7F7B-0026-E0D3-7600C2B487EA}"/>
              </a:ext>
            </a:extLst>
          </p:cNvPr>
          <p:cNvSpPr txBox="1"/>
          <p:nvPr/>
        </p:nvSpPr>
        <p:spPr>
          <a:xfrm>
            <a:off x="2032000" y="4406900"/>
            <a:ext cx="8318500" cy="166199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MX" sz="1700">
                <a:solidFill>
                  <a:srgbClr val="FFFFFF"/>
                </a:solidFill>
                <a:latin typeface="Arial" panose="020B0604020202020204" pitchFamily="34" charset="0"/>
              </a:rPr>
              <a:t>Respondimos las tres preguntas originales.
Los p-values globales son exploratorios; el tamaño de la serie permite detectar diferencias pequeñas.
La serie 2020–2023 describe patrones, pero no permite identificar sus causas.</a:t>
            </a:r>
            <a:endParaRPr lang="en-US" sz="17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2032</TotalTime>
  <Words>375</Words>
  <Application>Microsoft Office PowerPoint</Application>
  <PresentationFormat>Panorámica</PresentationFormat>
  <Paragraphs>28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Robert Aldo Pardo Silva</dc:creator>
  <cp:lastModifiedBy>Externo10</cp:lastModifiedBy>
  <cp:revision>22</cp:revision>
  <dcterms:created xsi:type="dcterms:W3CDTF">2023-10-13T18:05:47Z</dcterms:created>
  <dcterms:modified xsi:type="dcterms:W3CDTF">2026-10-03T01:41:27Z</dcterms:modified>
</cp:coreProperties>
</file>