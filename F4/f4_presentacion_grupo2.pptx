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0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2" r:id="rId13"/>
    <p:sldId id="274" r:id="rId14"/>
    <p:sldId id="275" r:id="rId15"/>
    <p:sldId id="276" r:id="rId16"/>
    <p:sldId id="267" r:id="rId17"/>
    <p:sldId id="273" r:id="rId18"/>
    <p:sldId id="269" r:id="rId19"/>
    <p:sldId id="270" r:id="rId20"/>
    <p:sldId id="271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4" roundtripDataSignature="AMtx7mhAuK1mLlnYAebl5Etjrb0jeSFX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9D6C888-D63A-46CD-A0F3-00944ED7FB2E}">
  <a:tblStyle styleId="{39D6C888-D63A-46CD-A0F3-00944ED7FB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customschemas.google.com/relationships/presentationmetadata" Target="meta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Presentar a Cristian, Jorge, Renzo y Luis. Cada fila representa un nacido vivo registrado. El proyecto responde tres preguntas descriptivas definidas en F1. Fuente: DEIS/MINSAL.</a:t>
            </a:r>
            <a:endParaRPr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Explicar la continuidad entre fases. El notebook F4 verifica las 735.611 filas, las 16 regiones, los 48 pares año-mes y la huella del archivo original.</a:t>
            </a:r>
            <a:endParaRPr/>
          </a:p>
        </p:txBody>
      </p:sp>
      <p:sp>
        <p:nvSpPr>
          <p:cNvPr id="109" name="Google Shape;109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h30d0de06c448fff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h30d0de06c448fff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Explicar la continuidad entre fases. El notebook F4 verifica las 735.611 filas, las 16 regiones, los 48 pares año-mes y la huella del archivo original.</a:t>
            </a:r>
            <a:endParaRPr/>
          </a:p>
        </p:txBody>
      </p:sp>
      <p:sp>
        <p:nvSpPr>
          <p:cNvPr id="121" name="Google Shape;121;h30d0de06c448fff3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h30d0de06c448fff3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h30d0de06c448fff3_0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Explicar la continuidad entre fases. El notebook F4 verifica las 735.611 filas, las 16 regiones, los 48 pares año-mes y la huella del archivo original.</a:t>
            </a:r>
            <a:endParaRPr/>
          </a:p>
        </p:txBody>
      </p:sp>
      <p:sp>
        <p:nvSpPr>
          <p:cNvPr id="133" name="Google Shape;133;h30d0de06c448fff3_0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30d0de06c448fff3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h30d0de06c448fff3_0_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Explicar la continuidad entre fases. El notebook F4 verifica las 735.611 filas, las 16 regiones, los 48 pares año-mes y la huella del archivo original.</a:t>
            </a:r>
            <a:endParaRPr/>
          </a:p>
        </p:txBody>
      </p:sp>
      <p:sp>
        <p:nvSpPr>
          <p:cNvPr id="145" name="Google Shape;145;h30d0de06c448fff3_0_3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30d0de06c448fff3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h30d0de06c448fff3_0_4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Explicar la continuidad entre fases. El notebook F4 verifica las 735.611 filas, las 16 regiones, los 48 pares año-mes y la huella del archivo original.</a:t>
            </a:r>
            <a:endParaRPr/>
          </a:p>
        </p:txBody>
      </p:sp>
      <p:sp>
        <p:nvSpPr>
          <p:cNvPr id="156" name="Google Shape;156;h30d0de06c448fff3_0_4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30d0de06c448fff3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h30d0de06c448fff3_0_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Explicar la continuidad entre fases. El notebook F4 verifica las 735.611 filas, las 16 regiones, los 48 pares año-mes y la huella del archivo original.</a:t>
            </a:r>
            <a:endParaRPr/>
          </a:p>
        </p:txBody>
      </p:sp>
      <p:sp>
        <p:nvSpPr>
          <p:cNvPr id="167" name="Google Shape;167;h30d0de06c448fff3_0_5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30d0de06c448fff3_2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h30d0de06c448fff3_2_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h30d0de06c448fff3_2_2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h30d0de06c448fff3_2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h30d0de06c448fff3_2_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h30d0de06c448fff3_2_4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h30d0de06c448fff3_2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h30d0de06c448fff3_2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h30d0de06c448fff3_2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E42712B3-19FE-F1EE-ED5C-55EC8AA6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30d0de06c448fff3_2_25:notes">
            <a:extLst>
              <a:ext uri="{FF2B5EF4-FFF2-40B4-BE49-F238E27FC236}">
                <a16:creationId xmlns:a16="http://schemas.microsoft.com/office/drawing/2014/main" id="{C82B3C27-CB05-5D65-F887-BEDB17DCE8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7" name="Google Shape;177;h30d0de06c448fff3_2_25:notes">
            <a:extLst>
              <a:ext uri="{FF2B5EF4-FFF2-40B4-BE49-F238E27FC236}">
                <a16:creationId xmlns:a16="http://schemas.microsoft.com/office/drawing/2014/main" id="{9CD32358-7F39-A3D9-1749-4780FEB85F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h30d0de06c448fff3_2_25:notes">
            <a:extLst>
              <a:ext uri="{FF2B5EF4-FFF2-40B4-BE49-F238E27FC236}">
                <a16:creationId xmlns:a16="http://schemas.microsoft.com/office/drawing/2014/main" id="{4165126F-73ED-4867-6E90-596B74D333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907539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15CE7AF0-EB71-6298-DCA7-AD1E711C9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30d0de06c448fff3_0_56:notes">
            <a:extLst>
              <a:ext uri="{FF2B5EF4-FFF2-40B4-BE49-F238E27FC236}">
                <a16:creationId xmlns:a16="http://schemas.microsoft.com/office/drawing/2014/main" id="{29800ADF-F38F-05BC-6B5A-7AA4BF2976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h30d0de06c448fff3_0_56:notes">
            <a:extLst>
              <a:ext uri="{FF2B5EF4-FFF2-40B4-BE49-F238E27FC236}">
                <a16:creationId xmlns:a16="http://schemas.microsoft.com/office/drawing/2014/main" id="{D29D349B-F4CA-919A-2B80-C344A10D5C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Explicar la continuidad entre fases. El notebook F4 verifica las 735.611 filas, las 16 regiones, los 48 pares año-mes y la huella del archivo original.</a:t>
            </a:r>
            <a:endParaRPr/>
          </a:p>
        </p:txBody>
      </p:sp>
      <p:sp>
        <p:nvSpPr>
          <p:cNvPr id="167" name="Google Shape;167;h30d0de06c448fff3_0_56:notes">
            <a:extLst>
              <a:ext uri="{FF2B5EF4-FFF2-40B4-BE49-F238E27FC236}">
                <a16:creationId xmlns:a16="http://schemas.microsoft.com/office/drawing/2014/main" id="{4163D8C6-4269-A65E-D520-9C13E004D1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480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2BB2B019-4333-CB6B-ED49-97C81C707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30d0de06c448fff3_0_56:notes">
            <a:extLst>
              <a:ext uri="{FF2B5EF4-FFF2-40B4-BE49-F238E27FC236}">
                <a16:creationId xmlns:a16="http://schemas.microsoft.com/office/drawing/2014/main" id="{4466E00C-5B4D-5031-6643-C4B9BD87CF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h30d0de06c448fff3_0_56:notes">
            <a:extLst>
              <a:ext uri="{FF2B5EF4-FFF2-40B4-BE49-F238E27FC236}">
                <a16:creationId xmlns:a16="http://schemas.microsoft.com/office/drawing/2014/main" id="{739E8A19-9C3B-D1EF-7BF0-66AB6986F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Explicar la continuidad entre fases. El notebook F4 verifica las 735.611 filas, las 16 regiones, los 48 pares año-mes y la huella del archivo original.</a:t>
            </a:r>
            <a:endParaRPr/>
          </a:p>
        </p:txBody>
      </p:sp>
      <p:sp>
        <p:nvSpPr>
          <p:cNvPr id="167" name="Google Shape;167;h30d0de06c448fff3_0_56:notes">
            <a:extLst>
              <a:ext uri="{FF2B5EF4-FFF2-40B4-BE49-F238E27FC236}">
                <a16:creationId xmlns:a16="http://schemas.microsoft.com/office/drawing/2014/main" id="{25CED1EC-7FF7-2C54-EF80-F087FF91A42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239397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>
          <a:extLst>
            <a:ext uri="{FF2B5EF4-FFF2-40B4-BE49-F238E27FC236}">
              <a16:creationId xmlns:a16="http://schemas.microsoft.com/office/drawing/2014/main" id="{8C81F750-A240-9C28-BE6A-F19171AB9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h30d0de06c448fff3_0_56:notes">
            <a:extLst>
              <a:ext uri="{FF2B5EF4-FFF2-40B4-BE49-F238E27FC236}">
                <a16:creationId xmlns:a16="http://schemas.microsoft.com/office/drawing/2014/main" id="{D80AB3B3-E9EF-CE4C-2228-E8C25CA753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6" name="Google Shape;166;h30d0de06c448fff3_0_56:notes">
            <a:extLst>
              <a:ext uri="{FF2B5EF4-FFF2-40B4-BE49-F238E27FC236}">
                <a16:creationId xmlns:a16="http://schemas.microsoft.com/office/drawing/2014/main" id="{92AF2B62-D85F-FB2F-BE4D-1C8B68303A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Explicar la continuidad entre fases. El notebook F4 verifica las 735.611 filas, las 16 regiones, los 48 pares año-mes y la huella del archivo original.</a:t>
            </a:r>
            <a:endParaRPr/>
          </a:p>
        </p:txBody>
      </p:sp>
      <p:sp>
        <p:nvSpPr>
          <p:cNvPr id="167" name="Google Shape;167;h30d0de06c448fff3_0_56:notes">
            <a:extLst>
              <a:ext uri="{FF2B5EF4-FFF2-40B4-BE49-F238E27FC236}">
                <a16:creationId xmlns:a16="http://schemas.microsoft.com/office/drawing/2014/main" id="{373BC5F3-01D8-36E5-B51A-C6268AD8D38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9234905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h30d0de06c448fff3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h30d0de06c448fff3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h30d0de06c448fff3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57CE0348-15E3-5965-07B7-A0B365B5E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30d0de06c448fff3_1_7:notes">
            <a:extLst>
              <a:ext uri="{FF2B5EF4-FFF2-40B4-BE49-F238E27FC236}">
                <a16:creationId xmlns:a16="http://schemas.microsoft.com/office/drawing/2014/main" id="{467BCC3B-78B7-5CAB-28DC-8CBB0AD59B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h30d0de06c448fff3_1_7:notes">
            <a:extLst>
              <a:ext uri="{FF2B5EF4-FFF2-40B4-BE49-F238E27FC236}">
                <a16:creationId xmlns:a16="http://schemas.microsoft.com/office/drawing/2014/main" id="{7AC716F4-835C-0F69-8552-3E425F93DA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h30d0de06c448fff3_1_7:notes">
            <a:extLst>
              <a:ext uri="{FF2B5EF4-FFF2-40B4-BE49-F238E27FC236}">
                <a16:creationId xmlns:a16="http://schemas.microsoft.com/office/drawing/2014/main" id="{50B8C823-DB1F-CEA8-0558-89109532B6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9006465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h30d0de06c448fff3_1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h30d0de06c448fff3_1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h30d0de06c448fff3_1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h30d0de06c448fff3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h30d0de06c448fff3_1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h30d0de06c448fff3_1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s-MX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/>
              <a:t>Cierre: retomar las tres preguntas y las unidades de cada resultado. La asociación entre región y maternidad menor de 20 años tuvo V de Cramér 0,036, pequeña pese al p-value bajo. Proponer ampliar la serie histórica y separar tendencia anual de estacionalidad.</a:t>
            </a:r>
            <a:endParaRPr/>
          </a:p>
        </p:txBody>
      </p:sp>
      <p:sp>
        <p:nvSpPr>
          <p:cNvPr id="261" name="Google Shape;26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19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1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MX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eis.minsal.cl/#datosabiertos" TargetMode="Externa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/>
        </p:nvSpPr>
        <p:spPr>
          <a:xfrm>
            <a:off x="1717331" y="2894648"/>
            <a:ext cx="8757337" cy="7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s-MX" sz="2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Nacimientos en Chile entre 2020 y 2023</a:t>
            </a:r>
            <a:endParaRPr sz="2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04906" y="1086558"/>
            <a:ext cx="1727200" cy="14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"/>
          <p:cNvSpPr/>
          <p:nvPr/>
        </p:nvSpPr>
        <p:spPr>
          <a:xfrm>
            <a:off x="3218270" y="3677840"/>
            <a:ext cx="6000108" cy="45719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rgbClr val="0C413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3485398" y="3818300"/>
            <a:ext cx="6613130" cy="109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s-MX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Proyecto final integrador · Fase 4 · Grupo 2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endParaRPr sz="200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s-MX" sz="2000">
                <a:solidFill>
                  <a:srgbClr val="FFFFFF"/>
                </a:solidFill>
              </a:rPr>
              <a:t>Integrantes: Cristian Hurtado, Jorge Altamirano, Renzo Vilchez y Luis Paredes</a:t>
            </a:r>
            <a:endParaRPr sz="2000">
              <a:solidFill>
                <a:srgbClr val="FFFFFF"/>
              </a:solidFill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5805270" y="6541035"/>
            <a:ext cx="1426836" cy="42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s-MX"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OCTUBRE 2026</a:t>
            </a:r>
            <a:endParaRPr sz="12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"/>
          <p:cNvPicPr preferRelativeResize="0"/>
          <p:nvPr/>
        </p:nvPicPr>
        <p:blipFill rotWithShape="1">
          <a:blip r:embed="rId3">
            <a:alphaModFix/>
          </a:blip>
          <a:srcRect l="38369" r="7163"/>
          <a:stretch/>
        </p:blipFill>
        <p:spPr>
          <a:xfrm>
            <a:off x="6549030" y="-79378"/>
            <a:ext cx="5738628" cy="701675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2"/>
          <p:cNvGrpSpPr/>
          <p:nvPr/>
        </p:nvGrpSpPr>
        <p:grpSpPr>
          <a:xfrm>
            <a:off x="302002" y="-206018"/>
            <a:ext cx="11544754" cy="6812558"/>
            <a:chOff x="302002" y="-206018"/>
            <a:chExt cx="11544754" cy="6812558"/>
          </a:xfrm>
        </p:grpSpPr>
        <p:sp>
          <p:nvSpPr>
            <p:cNvPr id="113" name="Google Shape;113;p2"/>
            <p:cNvSpPr/>
            <p:nvPr/>
          </p:nvSpPr>
          <p:spPr>
            <a:xfrm>
              <a:off x="302002" y="907609"/>
              <a:ext cx="11544754" cy="5698931"/>
            </a:xfrm>
            <a:prstGeom prst="rect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114" name="Google Shape;114;p2"/>
            <p:cNvGrpSpPr/>
            <p:nvPr/>
          </p:nvGrpSpPr>
          <p:grpSpPr>
            <a:xfrm>
              <a:off x="10266948" y="-206018"/>
              <a:ext cx="1339576" cy="1716660"/>
              <a:chOff x="10266948" y="-206018"/>
              <a:chExt cx="1339576" cy="1716660"/>
            </a:xfrm>
          </p:grpSpPr>
          <p:sp>
            <p:nvSpPr>
              <p:cNvPr id="115" name="Google Shape;115;p2"/>
              <p:cNvSpPr txBox="1"/>
              <p:nvPr/>
            </p:nvSpPr>
            <p:spPr>
              <a:xfrm>
                <a:off x="10266948" y="-206018"/>
                <a:ext cx="1339576" cy="171666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lang="es-MX" sz="2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16" name="Google Shape;116;p2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17" name="Google Shape;117;p2"/>
          <p:cNvSpPr txBox="1"/>
          <p:nvPr/>
        </p:nvSpPr>
        <p:spPr>
          <a:xfrm>
            <a:off x="722550" y="1432825"/>
            <a:ext cx="5457600" cy="42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/>
              <a:t>Los registros de nacidos vivos permiten describir diferencias territoriales y temporales relevantes para comprender la natalidad en Chile. </a:t>
            </a:r>
            <a:endParaRPr sz="17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/>
              <a:t>Sin embargo, las cantidades absolutas no permiten comparar directamente regiones de distinto tamaño ni meses de distinta duración. </a:t>
            </a:r>
            <a:endParaRPr sz="17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/>
              <a:t>Por ello, el proyecto analizará la proporción regional de nacimientos de madres menores de 20 años, el promedio diario de nacimientos por mes y la talla promedio al nacer por región.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h30d0de06c448fff3_0_0"/>
          <p:cNvPicPr preferRelativeResize="0"/>
          <p:nvPr/>
        </p:nvPicPr>
        <p:blipFill rotWithShape="1">
          <a:blip r:embed="rId3">
            <a:alphaModFix/>
          </a:blip>
          <a:srcRect l="38368" r="7163"/>
          <a:stretch/>
        </p:blipFill>
        <p:spPr>
          <a:xfrm>
            <a:off x="6549030" y="-79378"/>
            <a:ext cx="5738630" cy="70167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4" name="Google Shape;124;h30d0de06c448fff3_0_0"/>
          <p:cNvGrpSpPr/>
          <p:nvPr/>
        </p:nvGrpSpPr>
        <p:grpSpPr>
          <a:xfrm>
            <a:off x="302002" y="-206018"/>
            <a:ext cx="11544900" cy="6812427"/>
            <a:chOff x="302002" y="-206018"/>
            <a:chExt cx="11544900" cy="6812427"/>
          </a:xfrm>
        </p:grpSpPr>
        <p:sp>
          <p:nvSpPr>
            <p:cNvPr id="125" name="Google Shape;125;h30d0de06c448fff3_0_0"/>
            <p:cNvSpPr/>
            <p:nvPr/>
          </p:nvSpPr>
          <p:spPr>
            <a:xfrm>
              <a:off x="302002" y="907609"/>
              <a:ext cx="11544900" cy="5698800"/>
            </a:xfrm>
            <a:prstGeom prst="rect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126" name="Google Shape;126;h30d0de06c448fff3_0_0"/>
            <p:cNvGrpSpPr/>
            <p:nvPr/>
          </p:nvGrpSpPr>
          <p:grpSpPr>
            <a:xfrm>
              <a:off x="10266948" y="-206018"/>
              <a:ext cx="1339500" cy="1716600"/>
              <a:chOff x="10266948" y="-206018"/>
              <a:chExt cx="1339500" cy="1716600"/>
            </a:xfrm>
          </p:grpSpPr>
          <p:sp>
            <p:nvSpPr>
              <p:cNvPr id="127" name="Google Shape;127;h30d0de06c448fff3_0_0"/>
              <p:cNvSpPr txBox="1"/>
              <p:nvPr/>
            </p:nvSpPr>
            <p:spPr>
              <a:xfrm>
                <a:off x="10266948" y="-206018"/>
                <a:ext cx="1339500" cy="17166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lang="es-MX" sz="2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28" name="Google Shape;128;h30d0de06c448fff3_0_0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29" name="Google Shape;129;h30d0de06c448fff3_0_0"/>
          <p:cNvSpPr txBox="1"/>
          <p:nvPr/>
        </p:nvSpPr>
        <p:spPr>
          <a:xfrm>
            <a:off x="1070349" y="2177245"/>
            <a:ext cx="5109900" cy="27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Del dato original al resultado</a:t>
            </a:r>
            <a:br>
              <a:rPr lang="es-MX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MX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 definió tres preguntas e indicadores.</a:t>
            </a:r>
            <a:br>
              <a:rPr lang="es-MX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MX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F2 preparó 735.611 registros y eligió la mediana regional para 597 tallas faltantes.</a:t>
            </a:r>
            <a:br>
              <a:rPr lang="es-MX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MX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F3 separó lectura, cálculo y medición.</a:t>
            </a:r>
            <a:br>
              <a:rPr lang="es-MX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MX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F4 presenta tablas, figuras y límites del análisis.</a:t>
            </a:r>
            <a:endParaRPr sz="1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h30d0de06c448fff3_0_13"/>
          <p:cNvPicPr preferRelativeResize="0"/>
          <p:nvPr/>
        </p:nvPicPr>
        <p:blipFill rotWithShape="1">
          <a:blip r:embed="rId3">
            <a:alphaModFix/>
          </a:blip>
          <a:srcRect l="38368" r="7163"/>
          <a:stretch/>
        </p:blipFill>
        <p:spPr>
          <a:xfrm>
            <a:off x="6549030" y="-79378"/>
            <a:ext cx="5738630" cy="70167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h30d0de06c448fff3_0_13"/>
          <p:cNvGrpSpPr/>
          <p:nvPr/>
        </p:nvGrpSpPr>
        <p:grpSpPr>
          <a:xfrm>
            <a:off x="302002" y="-206018"/>
            <a:ext cx="11544900" cy="6812427"/>
            <a:chOff x="302002" y="-206018"/>
            <a:chExt cx="11544900" cy="6812427"/>
          </a:xfrm>
        </p:grpSpPr>
        <p:sp>
          <p:nvSpPr>
            <p:cNvPr id="137" name="Google Shape;137;h30d0de06c448fff3_0_13"/>
            <p:cNvSpPr/>
            <p:nvPr/>
          </p:nvSpPr>
          <p:spPr>
            <a:xfrm>
              <a:off x="302002" y="907609"/>
              <a:ext cx="11544900" cy="5698800"/>
            </a:xfrm>
            <a:prstGeom prst="rect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138" name="Google Shape;138;h30d0de06c448fff3_0_13"/>
            <p:cNvGrpSpPr/>
            <p:nvPr/>
          </p:nvGrpSpPr>
          <p:grpSpPr>
            <a:xfrm>
              <a:off x="10266948" y="-206018"/>
              <a:ext cx="1339500" cy="1716600"/>
              <a:chOff x="10266948" y="-206018"/>
              <a:chExt cx="1339500" cy="1716600"/>
            </a:xfrm>
          </p:grpSpPr>
          <p:sp>
            <p:nvSpPr>
              <p:cNvPr id="139" name="Google Shape;139;h30d0de06c448fff3_0_13"/>
              <p:cNvSpPr txBox="1"/>
              <p:nvPr/>
            </p:nvSpPr>
            <p:spPr>
              <a:xfrm>
                <a:off x="10266948" y="-206018"/>
                <a:ext cx="1339500" cy="17166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lang="es-MX" sz="2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40" name="Google Shape;140;h30d0de06c448fff3_0_13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41" name="Google Shape;141;h30d0de06c448fff3_0_13"/>
          <p:cNvSpPr txBox="1"/>
          <p:nvPr/>
        </p:nvSpPr>
        <p:spPr>
          <a:xfrm>
            <a:off x="502100" y="1200152"/>
            <a:ext cx="5678100" cy="3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/>
              <a:t>1. ¿Qué regiones de residencia materna presentan mayor y menor porcentaje de nacidos vivos de madres menores de 20 años durante 2020–2023?</a:t>
            </a:r>
            <a:endParaRPr sz="17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/>
              <a:t>2. ¿Qué meses del calendario presentan mayor y menor promedio diario de nacimientos durante 2020–2023, considerando todas las edades maternas?</a:t>
            </a:r>
            <a:endParaRPr sz="17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700"/>
          </a:p>
          <a:p>
            <a:pPr marL="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/>
              <a:t>3. ¿Qué regiones de residencia materna presentan mayor y menor talla promedio de los recién nacidos durante 2020–2023, considerando todas las edades maternas?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h30d0de06c448fff3_0_31"/>
          <p:cNvGrpSpPr/>
          <p:nvPr/>
        </p:nvGrpSpPr>
        <p:grpSpPr>
          <a:xfrm>
            <a:off x="302002" y="-206018"/>
            <a:ext cx="11544900" cy="6812427"/>
            <a:chOff x="302002" y="-206018"/>
            <a:chExt cx="11544900" cy="6812427"/>
          </a:xfrm>
        </p:grpSpPr>
        <p:sp>
          <p:nvSpPr>
            <p:cNvPr id="148" name="Google Shape;148;h30d0de06c448fff3_0_31"/>
            <p:cNvSpPr/>
            <p:nvPr/>
          </p:nvSpPr>
          <p:spPr>
            <a:xfrm>
              <a:off x="302002" y="907609"/>
              <a:ext cx="11544900" cy="5698800"/>
            </a:xfrm>
            <a:prstGeom prst="rect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149" name="Google Shape;149;h30d0de06c448fff3_0_31"/>
            <p:cNvGrpSpPr/>
            <p:nvPr/>
          </p:nvGrpSpPr>
          <p:grpSpPr>
            <a:xfrm>
              <a:off x="10266948" y="-206018"/>
              <a:ext cx="1339500" cy="1716600"/>
              <a:chOff x="10266948" y="-206018"/>
              <a:chExt cx="1339500" cy="1716600"/>
            </a:xfrm>
          </p:grpSpPr>
          <p:sp>
            <p:nvSpPr>
              <p:cNvPr id="150" name="Google Shape;150;h30d0de06c448fff3_0_31"/>
              <p:cNvSpPr txBox="1"/>
              <p:nvPr/>
            </p:nvSpPr>
            <p:spPr>
              <a:xfrm>
                <a:off x="10266948" y="-206018"/>
                <a:ext cx="1339500" cy="17166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lang="es-MX" sz="2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51" name="Google Shape;151;h30d0de06c448fff3_0_31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aphicFrame>
        <p:nvGraphicFramePr>
          <p:cNvPr id="152" name="Google Shape;152;h30d0de06c448fff3_0_31"/>
          <p:cNvGraphicFramePr/>
          <p:nvPr/>
        </p:nvGraphicFramePr>
        <p:xfrm>
          <a:off x="952500" y="1797525"/>
          <a:ext cx="10287000" cy="3644810"/>
        </p:xfrm>
        <a:graphic>
          <a:graphicData uri="http://schemas.openxmlformats.org/drawingml/2006/table">
            <a:tbl>
              <a:tblPr>
                <a:noFill/>
                <a:tableStyleId>{39D6C888-D63A-46CD-A0F3-00944ED7FB2E}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8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Pregunta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Denominador o medida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Denominador y alcance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15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Maternidad adolescente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NV de los grupos “menores de 15 años” y “15 a 19 años”, multiplicados por 100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Todos los NV de la misma región durante 2020–2023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Promedio diario mensual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NV de cada mes calendario sumados en los cuatro años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Días de ese mes en los cuatro años: febrero 113, meses de 30 días 120 y meses de 31 días 124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Talla media regional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Suma de tallas válidas, en centímetros, de cada región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/>
                        <a:t>Número de tallas válidas de esa región; comparar con los escenarios de imputación en F2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h30d0de06c448fff3_0_45"/>
          <p:cNvGrpSpPr/>
          <p:nvPr/>
        </p:nvGrpSpPr>
        <p:grpSpPr>
          <a:xfrm>
            <a:off x="302002" y="-206018"/>
            <a:ext cx="11544900" cy="6812427"/>
            <a:chOff x="302002" y="-206018"/>
            <a:chExt cx="11544900" cy="6812427"/>
          </a:xfrm>
        </p:grpSpPr>
        <p:sp>
          <p:nvSpPr>
            <p:cNvPr id="159" name="Google Shape;159;h30d0de06c448fff3_0_45"/>
            <p:cNvSpPr/>
            <p:nvPr/>
          </p:nvSpPr>
          <p:spPr>
            <a:xfrm>
              <a:off x="302002" y="907609"/>
              <a:ext cx="11544900" cy="5698800"/>
            </a:xfrm>
            <a:prstGeom prst="rect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160" name="Google Shape;160;h30d0de06c448fff3_0_45"/>
            <p:cNvGrpSpPr/>
            <p:nvPr/>
          </p:nvGrpSpPr>
          <p:grpSpPr>
            <a:xfrm>
              <a:off x="10266948" y="-206018"/>
              <a:ext cx="1339500" cy="1716600"/>
              <a:chOff x="10266948" y="-206018"/>
              <a:chExt cx="1339500" cy="1716600"/>
            </a:xfrm>
          </p:grpSpPr>
          <p:sp>
            <p:nvSpPr>
              <p:cNvPr id="161" name="Google Shape;161;h30d0de06c448fff3_0_45"/>
              <p:cNvSpPr txBox="1"/>
              <p:nvPr/>
            </p:nvSpPr>
            <p:spPr>
              <a:xfrm>
                <a:off x="10266948" y="-206018"/>
                <a:ext cx="1339500" cy="17166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lang="es-MX" sz="2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62" name="Google Shape;162;h30d0de06c448fff3_0_4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163" name="Google Shape;163;h30d0de06c448fff3_0_45" title="imagen_2026-10-04_1955377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188" y="1566200"/>
            <a:ext cx="9686925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h30d0de06c448fff3_0_56"/>
          <p:cNvGrpSpPr/>
          <p:nvPr/>
        </p:nvGrpSpPr>
        <p:grpSpPr>
          <a:xfrm>
            <a:off x="302002" y="-206018"/>
            <a:ext cx="11544900" cy="6812427"/>
            <a:chOff x="302002" y="-206018"/>
            <a:chExt cx="11544900" cy="6812427"/>
          </a:xfrm>
        </p:grpSpPr>
        <p:sp>
          <p:nvSpPr>
            <p:cNvPr id="170" name="Google Shape;170;h30d0de06c448fff3_0_56"/>
            <p:cNvSpPr/>
            <p:nvPr/>
          </p:nvSpPr>
          <p:spPr>
            <a:xfrm>
              <a:off x="302002" y="907609"/>
              <a:ext cx="11544900" cy="5698800"/>
            </a:xfrm>
            <a:prstGeom prst="rect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171" name="Google Shape;171;h30d0de06c448fff3_0_56"/>
            <p:cNvGrpSpPr/>
            <p:nvPr/>
          </p:nvGrpSpPr>
          <p:grpSpPr>
            <a:xfrm>
              <a:off x="10266948" y="-206018"/>
              <a:ext cx="1339500" cy="1716600"/>
              <a:chOff x="10266948" y="-206018"/>
              <a:chExt cx="1339500" cy="1716600"/>
            </a:xfrm>
          </p:grpSpPr>
          <p:sp>
            <p:nvSpPr>
              <p:cNvPr id="172" name="Google Shape;172;h30d0de06c448fff3_0_56"/>
              <p:cNvSpPr txBox="1"/>
              <p:nvPr/>
            </p:nvSpPr>
            <p:spPr>
              <a:xfrm>
                <a:off x="10266948" y="-206018"/>
                <a:ext cx="1339500" cy="17166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lang="es-MX" sz="2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73" name="Google Shape;173;h30d0de06c448fff3_0_56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74" name="Google Shape;174;h30d0de06c448fff3_0_56"/>
          <p:cNvSpPr txBox="1"/>
          <p:nvPr/>
        </p:nvSpPr>
        <p:spPr>
          <a:xfrm>
            <a:off x="869500" y="1298125"/>
            <a:ext cx="9221700" cy="384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dirty="0"/>
              <a:t>1. La definición de nacido vivo como unidad de observación permite delimitar correctamente el proyecto: sus indicadores no representan el número de madres distintas ni todos los embarazos adolescentes.</a:t>
            </a:r>
            <a:endParaRPr sz="17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dirty="0"/>
              <a:t>2. El uso de denominadores regionales y días calendario hace que las comparaciones respondan a las preguntas planteadas, sin depender únicamente del tamaño regional o de la duración del mes.</a:t>
            </a:r>
            <a:endParaRPr sz="17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dirty="0"/>
              <a:t>3. La presencia de faltantes de talla requiere comparar tratamientos y documentar su efecto; una proporción pequeña de nulos no determina por sí sola que deban imputarse o descartarse.</a:t>
            </a:r>
            <a:endParaRPr sz="17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 dirty="0"/>
              <a:t>4. La documentación de la fuente, las versiones y las rutas establece condiciones verificables para reproducir el proyecto. La reproducción por otro integrante todavía debe demostrarse.</a:t>
            </a:r>
            <a:endParaRPr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h30d0de06c448fff3_2_25"/>
          <p:cNvPicPr preferRelativeResize="0"/>
          <p:nvPr/>
        </p:nvPicPr>
        <p:blipFill rotWithShape="1">
          <a:blip r:embed="rId3">
            <a:alphaModFix/>
          </a:blip>
          <a:srcRect l="38368" r="7163"/>
          <a:stretch/>
        </p:blipFill>
        <p:spPr>
          <a:xfrm>
            <a:off x="6549030" y="-79378"/>
            <a:ext cx="5738630" cy="70167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h30d0de06c448fff3_2_25"/>
          <p:cNvGrpSpPr/>
          <p:nvPr/>
        </p:nvGrpSpPr>
        <p:grpSpPr>
          <a:xfrm>
            <a:off x="302002" y="-206018"/>
            <a:ext cx="11544900" cy="6812427"/>
            <a:chOff x="302002" y="-206018"/>
            <a:chExt cx="11544900" cy="6812427"/>
          </a:xfrm>
        </p:grpSpPr>
        <p:sp>
          <p:nvSpPr>
            <p:cNvPr id="182" name="Google Shape;182;h30d0de06c448fff3_2_25"/>
            <p:cNvSpPr/>
            <p:nvPr/>
          </p:nvSpPr>
          <p:spPr>
            <a:xfrm>
              <a:off x="302002" y="907609"/>
              <a:ext cx="11544900" cy="5698800"/>
            </a:xfrm>
            <a:prstGeom prst="rect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183" name="Google Shape;183;h30d0de06c448fff3_2_25"/>
            <p:cNvGrpSpPr/>
            <p:nvPr/>
          </p:nvGrpSpPr>
          <p:grpSpPr>
            <a:xfrm>
              <a:off x="10266948" y="-206018"/>
              <a:ext cx="1339500" cy="1716600"/>
              <a:chOff x="10266948" y="-206018"/>
              <a:chExt cx="1339500" cy="1716600"/>
            </a:xfrm>
          </p:grpSpPr>
          <p:sp>
            <p:nvSpPr>
              <p:cNvPr id="184" name="Google Shape;184;h30d0de06c448fff3_2_25"/>
              <p:cNvSpPr txBox="1"/>
              <p:nvPr/>
            </p:nvSpPr>
            <p:spPr>
              <a:xfrm>
                <a:off x="10266948" y="-206018"/>
                <a:ext cx="1339500" cy="17166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lang="es-MX" sz="2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85" name="Google Shape;185;h30d0de06c448fff3_2_2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86" name="Google Shape;186;h30d0de06c448fff3_2_25"/>
          <p:cNvSpPr txBox="1"/>
          <p:nvPr/>
        </p:nvSpPr>
        <p:spPr>
          <a:xfrm>
            <a:off x="502100" y="1200152"/>
            <a:ext cx="5678100" cy="3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 sz="1700" b="1">
                <a:solidFill>
                  <a:srgbClr val="002C6B"/>
                </a:solidFill>
              </a:rPr>
              <a:t>F2: Preparación y análisis preliminar de calidad</a:t>
            </a:r>
            <a:endParaRPr sz="1700" b="1">
              <a:solidFill>
                <a:srgbClr val="002C6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El dataset proviene del portal Datos Abiertos del DEIS/MINSAL: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 sz="1700" u="sng">
                <a:solidFill>
                  <a:schemeClr val="hlink"/>
                </a:solidFill>
                <a:hlinkClick r:id="rId5"/>
              </a:rPr>
              <a:t>https://deis.minsal.cl/#datosabiertos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MX" sz="1700">
                <a:solidFill>
                  <a:schemeClr val="dk1"/>
                </a:solidFill>
              </a:rPr>
              <a:t>25 Columnas/variables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 sz="1700">
                <a:solidFill>
                  <a:schemeClr val="dk1"/>
                </a:solidFill>
              </a:rPr>
              <a:t>735612 Filas/cabecera + nacidos(735611) 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Google Shape;192;h30d0de06c448fff3_2_49"/>
          <p:cNvGrpSpPr/>
          <p:nvPr/>
        </p:nvGrpSpPr>
        <p:grpSpPr>
          <a:xfrm>
            <a:off x="302002" y="-206018"/>
            <a:ext cx="11544900" cy="6812427"/>
            <a:chOff x="302002" y="-206018"/>
            <a:chExt cx="11544900" cy="6812427"/>
          </a:xfrm>
        </p:grpSpPr>
        <p:sp>
          <p:nvSpPr>
            <p:cNvPr id="193" name="Google Shape;193;h30d0de06c448fff3_2_49"/>
            <p:cNvSpPr/>
            <p:nvPr/>
          </p:nvSpPr>
          <p:spPr>
            <a:xfrm>
              <a:off x="302002" y="907609"/>
              <a:ext cx="11544900" cy="5698800"/>
            </a:xfrm>
            <a:prstGeom prst="rect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194" name="Google Shape;194;h30d0de06c448fff3_2_49"/>
            <p:cNvGrpSpPr/>
            <p:nvPr/>
          </p:nvGrpSpPr>
          <p:grpSpPr>
            <a:xfrm>
              <a:off x="10266948" y="-206018"/>
              <a:ext cx="1339500" cy="1716600"/>
              <a:chOff x="10266948" y="-206018"/>
              <a:chExt cx="1339500" cy="1716600"/>
            </a:xfrm>
          </p:grpSpPr>
          <p:sp>
            <p:nvSpPr>
              <p:cNvPr id="195" name="Google Shape;195;h30d0de06c448fff3_2_49"/>
              <p:cNvSpPr txBox="1"/>
              <p:nvPr/>
            </p:nvSpPr>
            <p:spPr>
              <a:xfrm>
                <a:off x="10266948" y="-206018"/>
                <a:ext cx="1339500" cy="17166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lang="es-MX" sz="2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96" name="Google Shape;196;h30d0de06c448fff3_2_49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97" name="Google Shape;197;h30d0de06c448fff3_2_49"/>
          <p:cNvSpPr txBox="1"/>
          <p:nvPr/>
        </p:nvSpPr>
        <p:spPr>
          <a:xfrm>
            <a:off x="502100" y="1200152"/>
            <a:ext cx="5678100" cy="3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 sz="1700" b="1">
                <a:solidFill>
                  <a:srgbClr val="002C6B"/>
                </a:solidFill>
              </a:rPr>
              <a:t>Campos Seleccionados</a:t>
            </a:r>
            <a:endParaRPr sz="1700" b="1">
              <a:solidFill>
                <a:srgbClr val="002C6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</p:txBody>
      </p:sp>
      <p:pic>
        <p:nvPicPr>
          <p:cNvPr id="198" name="Google Shape;198;h30d0de06c448fff3_2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100" y="1638075"/>
            <a:ext cx="11344799" cy="3766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h30d0de06c448fff3_2_37"/>
          <p:cNvPicPr preferRelativeResize="0"/>
          <p:nvPr/>
        </p:nvPicPr>
        <p:blipFill rotWithShape="1">
          <a:blip r:embed="rId3">
            <a:alphaModFix/>
          </a:blip>
          <a:srcRect l="38368" r="7163"/>
          <a:stretch/>
        </p:blipFill>
        <p:spPr>
          <a:xfrm>
            <a:off x="6549030" y="-79378"/>
            <a:ext cx="5738630" cy="70167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h30d0de06c448fff3_2_37"/>
          <p:cNvGrpSpPr/>
          <p:nvPr/>
        </p:nvGrpSpPr>
        <p:grpSpPr>
          <a:xfrm>
            <a:off x="302002" y="-206018"/>
            <a:ext cx="11544900" cy="6812427"/>
            <a:chOff x="302002" y="-206018"/>
            <a:chExt cx="11544900" cy="6812427"/>
          </a:xfrm>
        </p:grpSpPr>
        <p:sp>
          <p:nvSpPr>
            <p:cNvPr id="206" name="Google Shape;206;h30d0de06c448fff3_2_37"/>
            <p:cNvSpPr/>
            <p:nvPr/>
          </p:nvSpPr>
          <p:spPr>
            <a:xfrm>
              <a:off x="302002" y="907609"/>
              <a:ext cx="11544900" cy="5698800"/>
            </a:xfrm>
            <a:prstGeom prst="rect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207" name="Google Shape;207;h30d0de06c448fff3_2_37"/>
            <p:cNvGrpSpPr/>
            <p:nvPr/>
          </p:nvGrpSpPr>
          <p:grpSpPr>
            <a:xfrm>
              <a:off x="10266948" y="-206018"/>
              <a:ext cx="1339500" cy="1716600"/>
              <a:chOff x="10266948" y="-206018"/>
              <a:chExt cx="1339500" cy="1716600"/>
            </a:xfrm>
          </p:grpSpPr>
          <p:sp>
            <p:nvSpPr>
              <p:cNvPr id="208" name="Google Shape;208;h30d0de06c448fff3_2_37"/>
              <p:cNvSpPr txBox="1"/>
              <p:nvPr/>
            </p:nvSpPr>
            <p:spPr>
              <a:xfrm>
                <a:off x="10266948" y="-206018"/>
                <a:ext cx="1339500" cy="17166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lang="es-MX" sz="2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209" name="Google Shape;209;h30d0de06c448fff3_2_37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10" name="Google Shape;210;h30d0de06c448fff3_2_37"/>
          <p:cNvSpPr txBox="1"/>
          <p:nvPr/>
        </p:nvSpPr>
        <p:spPr>
          <a:xfrm>
            <a:off x="502100" y="1200149"/>
            <a:ext cx="5678100" cy="50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 sz="1700">
                <a:solidFill>
                  <a:schemeClr val="dk1"/>
                </a:solidFill>
              </a:rPr>
              <a:t>Registros Nulos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 sz="1700">
                <a:solidFill>
                  <a:schemeClr val="dk1"/>
                </a:solidFill>
              </a:rPr>
              <a:t>1. TALLA contiene 597 registros nulos (0.0812 %), donde se uso mediana regional para sustituir estos valores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 sz="1700">
                <a:solidFill>
                  <a:schemeClr val="dk1"/>
                </a:solidFill>
              </a:rPr>
              <a:t>.2. Mayor porcentaje regional: De Aisén del Gral. C. Ibáñez del Campo, 0.3951 % (16 registros de 4050).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 sz="1700">
                <a:solidFill>
                  <a:schemeClr val="dk1"/>
                </a:solidFill>
              </a:rPr>
              <a:t>   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 sz="1700">
                <a:solidFill>
                  <a:schemeClr val="dk1"/>
                </a:solidFill>
              </a:rPr>
              <a:t>3. Menor porcentaje regional: De Arica y Parinacota, 0.0450 % (5 registros de 11107).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>
          <a:extLst>
            <a:ext uri="{FF2B5EF4-FFF2-40B4-BE49-F238E27FC236}">
              <a16:creationId xmlns:a16="http://schemas.microsoft.com/office/drawing/2014/main" id="{7BEE6A8C-010B-BD41-50FA-D1265D50D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h30d0de06c448fff3_2_25">
            <a:extLst>
              <a:ext uri="{FF2B5EF4-FFF2-40B4-BE49-F238E27FC236}">
                <a16:creationId xmlns:a16="http://schemas.microsoft.com/office/drawing/2014/main" id="{7922814F-C0BC-0BD0-660F-884E04B88B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38368" r="7163"/>
          <a:stretch/>
        </p:blipFill>
        <p:spPr>
          <a:xfrm>
            <a:off x="6549030" y="-79378"/>
            <a:ext cx="5738630" cy="70167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1" name="Google Shape;181;h30d0de06c448fff3_2_25">
            <a:extLst>
              <a:ext uri="{FF2B5EF4-FFF2-40B4-BE49-F238E27FC236}">
                <a16:creationId xmlns:a16="http://schemas.microsoft.com/office/drawing/2014/main" id="{63B6BA53-9C60-F16D-F156-6B9C949A8229}"/>
              </a:ext>
            </a:extLst>
          </p:cNvPr>
          <p:cNvGrpSpPr/>
          <p:nvPr/>
        </p:nvGrpSpPr>
        <p:grpSpPr>
          <a:xfrm>
            <a:off x="302002" y="-206018"/>
            <a:ext cx="11544900" cy="6812427"/>
            <a:chOff x="302002" y="-206018"/>
            <a:chExt cx="11544900" cy="6812427"/>
          </a:xfrm>
        </p:grpSpPr>
        <p:sp>
          <p:nvSpPr>
            <p:cNvPr id="182" name="Google Shape;182;h30d0de06c448fff3_2_25">
              <a:extLst>
                <a:ext uri="{FF2B5EF4-FFF2-40B4-BE49-F238E27FC236}">
                  <a16:creationId xmlns:a16="http://schemas.microsoft.com/office/drawing/2014/main" id="{CE2BB87C-12F4-13A8-E7B4-7ADE2DA59856}"/>
                </a:ext>
              </a:extLst>
            </p:cNvPr>
            <p:cNvSpPr/>
            <p:nvPr/>
          </p:nvSpPr>
          <p:spPr>
            <a:xfrm>
              <a:off x="302002" y="907609"/>
              <a:ext cx="11544900" cy="5698800"/>
            </a:xfrm>
            <a:prstGeom prst="rect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183" name="Google Shape;183;h30d0de06c448fff3_2_25">
              <a:extLst>
                <a:ext uri="{FF2B5EF4-FFF2-40B4-BE49-F238E27FC236}">
                  <a16:creationId xmlns:a16="http://schemas.microsoft.com/office/drawing/2014/main" id="{19A2818B-776C-4360-A00A-0BCDC1DC4AEF}"/>
                </a:ext>
              </a:extLst>
            </p:cNvPr>
            <p:cNvGrpSpPr/>
            <p:nvPr/>
          </p:nvGrpSpPr>
          <p:grpSpPr>
            <a:xfrm>
              <a:off x="10266948" y="-206018"/>
              <a:ext cx="1339500" cy="1716600"/>
              <a:chOff x="10266948" y="-206018"/>
              <a:chExt cx="1339500" cy="1716600"/>
            </a:xfrm>
          </p:grpSpPr>
          <p:sp>
            <p:nvSpPr>
              <p:cNvPr id="184" name="Google Shape;184;h30d0de06c448fff3_2_25">
                <a:extLst>
                  <a:ext uri="{FF2B5EF4-FFF2-40B4-BE49-F238E27FC236}">
                    <a16:creationId xmlns:a16="http://schemas.microsoft.com/office/drawing/2014/main" id="{0C84B4E5-C042-0FA9-2A0F-BA20DA2F52C9}"/>
                  </a:ext>
                </a:extLst>
              </p:cNvPr>
              <p:cNvSpPr txBox="1"/>
              <p:nvPr/>
            </p:nvSpPr>
            <p:spPr>
              <a:xfrm>
                <a:off x="10266948" y="-206018"/>
                <a:ext cx="1339500" cy="17166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lang="es-MX" sz="2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85" name="Google Shape;185;h30d0de06c448fff3_2_25">
                <a:extLst>
                  <a:ext uri="{FF2B5EF4-FFF2-40B4-BE49-F238E27FC236}">
                    <a16:creationId xmlns:a16="http://schemas.microsoft.com/office/drawing/2014/main" id="{A3D8DCB3-9AF4-BE34-B7FF-460D6F15C472}"/>
                  </a:ext>
                </a:extLst>
              </p:cNvPr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86" name="Google Shape;186;h30d0de06c448fff3_2_25">
            <a:extLst>
              <a:ext uri="{FF2B5EF4-FFF2-40B4-BE49-F238E27FC236}">
                <a16:creationId xmlns:a16="http://schemas.microsoft.com/office/drawing/2014/main" id="{086DAB6A-2112-96E2-E930-FE45FE1CA2B6}"/>
              </a:ext>
            </a:extLst>
          </p:cNvPr>
          <p:cNvSpPr txBox="1"/>
          <p:nvPr/>
        </p:nvSpPr>
        <p:spPr>
          <a:xfrm>
            <a:off x="502100" y="1200152"/>
            <a:ext cx="5678100" cy="36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MX" sz="1700" b="1" dirty="0">
                <a:solidFill>
                  <a:srgbClr val="002C6B"/>
                </a:solidFill>
              </a:rPr>
              <a:t>F3: Desarrollo del Proyecto</a:t>
            </a:r>
            <a:endParaRPr sz="1700" b="1" dirty="0">
              <a:solidFill>
                <a:srgbClr val="002C6B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 dirty="0">
              <a:solidFill>
                <a:schemeClr val="dk1"/>
              </a:solidFill>
            </a:endParaRPr>
          </a:p>
          <a:p>
            <a:pPr lvl="0">
              <a:buClr>
                <a:schemeClr val="dk1"/>
              </a:buClr>
              <a:buSzPts val="1100"/>
            </a:pPr>
            <a:r>
              <a:rPr lang="es-ES" sz="1700" b="1" dirty="0">
                <a:solidFill>
                  <a:schemeClr val="dk1"/>
                </a:solidFill>
              </a:rPr>
              <a:t>Scripts y Complejidad Algorítmica</a:t>
            </a:r>
            <a:endParaRPr lang="es-ES"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"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700" i="1" dirty="0">
                <a:solidFill>
                  <a:schemeClr val="dk1"/>
                </a:solidFill>
              </a:rPr>
              <a:t>Transición desde la Preparación de Datos (F2) hacia el diseño de algoritmos, evaluando eficiencia computacional y preparando variables para modelado.</a:t>
            </a:r>
            <a:endParaRPr sz="1700" i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7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181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B65412B5-78AB-27FA-5D0A-704036E55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h30d0de06c448fff3_0_56">
            <a:extLst>
              <a:ext uri="{FF2B5EF4-FFF2-40B4-BE49-F238E27FC236}">
                <a16:creationId xmlns:a16="http://schemas.microsoft.com/office/drawing/2014/main" id="{E694517D-FE23-7499-2461-13134AA010AA}"/>
              </a:ext>
            </a:extLst>
          </p:cNvPr>
          <p:cNvGrpSpPr/>
          <p:nvPr/>
        </p:nvGrpSpPr>
        <p:grpSpPr>
          <a:xfrm>
            <a:off x="302002" y="-206018"/>
            <a:ext cx="11544900" cy="6812427"/>
            <a:chOff x="302002" y="-206018"/>
            <a:chExt cx="11544900" cy="6812427"/>
          </a:xfrm>
        </p:grpSpPr>
        <p:sp>
          <p:nvSpPr>
            <p:cNvPr id="170" name="Google Shape;170;h30d0de06c448fff3_0_56">
              <a:extLst>
                <a:ext uri="{FF2B5EF4-FFF2-40B4-BE49-F238E27FC236}">
                  <a16:creationId xmlns:a16="http://schemas.microsoft.com/office/drawing/2014/main" id="{1DDFED58-67DF-3027-C8C2-652FC83ABC51}"/>
                </a:ext>
              </a:extLst>
            </p:cNvPr>
            <p:cNvSpPr/>
            <p:nvPr/>
          </p:nvSpPr>
          <p:spPr>
            <a:xfrm>
              <a:off x="302002" y="907609"/>
              <a:ext cx="11544900" cy="5698800"/>
            </a:xfrm>
            <a:prstGeom prst="rect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171" name="Google Shape;171;h30d0de06c448fff3_0_56">
              <a:extLst>
                <a:ext uri="{FF2B5EF4-FFF2-40B4-BE49-F238E27FC236}">
                  <a16:creationId xmlns:a16="http://schemas.microsoft.com/office/drawing/2014/main" id="{E197FB2D-213A-9171-9FE0-7753E261CFC0}"/>
                </a:ext>
              </a:extLst>
            </p:cNvPr>
            <p:cNvGrpSpPr/>
            <p:nvPr/>
          </p:nvGrpSpPr>
          <p:grpSpPr>
            <a:xfrm>
              <a:off x="10266948" y="-206018"/>
              <a:ext cx="1339500" cy="1716600"/>
              <a:chOff x="10266948" y="-206018"/>
              <a:chExt cx="1339500" cy="1716600"/>
            </a:xfrm>
          </p:grpSpPr>
          <p:sp>
            <p:nvSpPr>
              <p:cNvPr id="172" name="Google Shape;172;h30d0de06c448fff3_0_56">
                <a:extLst>
                  <a:ext uri="{FF2B5EF4-FFF2-40B4-BE49-F238E27FC236}">
                    <a16:creationId xmlns:a16="http://schemas.microsoft.com/office/drawing/2014/main" id="{9B61A60A-2F61-FFF3-7C8F-5B3299683116}"/>
                  </a:ext>
                </a:extLst>
              </p:cNvPr>
              <p:cNvSpPr txBox="1"/>
              <p:nvPr/>
            </p:nvSpPr>
            <p:spPr>
              <a:xfrm>
                <a:off x="10266948" y="-206018"/>
                <a:ext cx="1339500" cy="17166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lang="es-MX" sz="2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73" name="Google Shape;173;h30d0de06c448fff3_0_56">
                <a:extLst>
                  <a:ext uri="{FF2B5EF4-FFF2-40B4-BE49-F238E27FC236}">
                    <a16:creationId xmlns:a16="http://schemas.microsoft.com/office/drawing/2014/main" id="{B1A23829-8A46-00B9-0313-758186CF9963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74" name="Google Shape;174;h30d0de06c448fff3_0_56">
            <a:extLst>
              <a:ext uri="{FF2B5EF4-FFF2-40B4-BE49-F238E27FC236}">
                <a16:creationId xmlns:a16="http://schemas.microsoft.com/office/drawing/2014/main" id="{11947B5C-AC78-28EE-02C7-E55BD5786830}"/>
              </a:ext>
            </a:extLst>
          </p:cNvPr>
          <p:cNvSpPr txBox="1"/>
          <p:nvPr/>
        </p:nvSpPr>
        <p:spPr>
          <a:xfrm>
            <a:off x="957048" y="1570814"/>
            <a:ext cx="4344526" cy="4501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700" b="1" dirty="0"/>
              <a:t>Procesamiento Tabular</a:t>
            </a:r>
            <a:r>
              <a:rPr lang="es-ES" sz="1700" dirty="0"/>
              <a:t>: Uso de la programación estructurada para procesar de forma segura los 735.611 registros de nacimientos.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ES" sz="1700" dirty="0"/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ES" sz="1700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700" b="1" dirty="0"/>
              <a:t>Metadatos</a:t>
            </a:r>
            <a:r>
              <a:rPr lang="es-ES" sz="1700" dirty="0"/>
              <a:t>: Reutilización de la función recursiva (</a:t>
            </a:r>
            <a:r>
              <a:rPr lang="es-ES" sz="1700" i="1" dirty="0"/>
              <a:t>‘aplanar()’</a:t>
            </a:r>
            <a:r>
              <a:rPr lang="es-ES" sz="1700" dirty="0"/>
              <a:t>) para explorar diccionarios de resultados (</a:t>
            </a:r>
            <a:r>
              <a:rPr lang="es-ES" sz="1700" i="1" dirty="0"/>
              <a:t>JSON</a:t>
            </a:r>
            <a:r>
              <a:rPr lang="es-ES" sz="1700" dirty="0"/>
              <a:t>) de profundidad variable.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ES" sz="1700" b="1" dirty="0"/>
          </a:p>
        </p:txBody>
      </p:sp>
      <p:sp>
        <p:nvSpPr>
          <p:cNvPr id="2" name="Google Shape;222;p6">
            <a:extLst>
              <a:ext uri="{FF2B5EF4-FFF2-40B4-BE49-F238E27FC236}">
                <a16:creationId xmlns:a16="http://schemas.microsoft.com/office/drawing/2014/main" id="{3166BF84-1233-06F9-1573-AD0D59FB90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002" y="244827"/>
            <a:ext cx="1021359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sz="2800" b="1" dirty="0"/>
              <a:t>Enfoque Estructurado vs Recursivo</a:t>
            </a:r>
            <a:br>
              <a:rPr lang="es-ES" sz="2800" b="1" dirty="0"/>
            </a:br>
            <a:r>
              <a:rPr lang="es-ES" sz="2400" dirty="0"/>
              <a:t>Decisiones de Diseño Algorítmico</a:t>
            </a:r>
            <a:endParaRPr lang="es-ES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28F9ABA-645E-AB74-3ED3-052FFFCFE5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801" y="1570814"/>
            <a:ext cx="6213959" cy="482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3475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7A8882A5-E473-3B4E-F809-36CE7DA3B5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h30d0de06c448fff3_0_56">
            <a:extLst>
              <a:ext uri="{FF2B5EF4-FFF2-40B4-BE49-F238E27FC236}">
                <a16:creationId xmlns:a16="http://schemas.microsoft.com/office/drawing/2014/main" id="{D64BEDED-B657-0E8E-19C6-7020C03E5208}"/>
              </a:ext>
            </a:extLst>
          </p:cNvPr>
          <p:cNvGrpSpPr/>
          <p:nvPr/>
        </p:nvGrpSpPr>
        <p:grpSpPr>
          <a:xfrm>
            <a:off x="302002" y="-206018"/>
            <a:ext cx="11544900" cy="6812427"/>
            <a:chOff x="302002" y="-206018"/>
            <a:chExt cx="11544900" cy="6812427"/>
          </a:xfrm>
        </p:grpSpPr>
        <p:sp>
          <p:nvSpPr>
            <p:cNvPr id="170" name="Google Shape;170;h30d0de06c448fff3_0_56">
              <a:extLst>
                <a:ext uri="{FF2B5EF4-FFF2-40B4-BE49-F238E27FC236}">
                  <a16:creationId xmlns:a16="http://schemas.microsoft.com/office/drawing/2014/main" id="{CC85C27B-1ED6-DA66-CA0D-D1A372B7ECC0}"/>
                </a:ext>
              </a:extLst>
            </p:cNvPr>
            <p:cNvSpPr/>
            <p:nvPr/>
          </p:nvSpPr>
          <p:spPr>
            <a:xfrm>
              <a:off x="302002" y="907609"/>
              <a:ext cx="11544900" cy="5698800"/>
            </a:xfrm>
            <a:prstGeom prst="rect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171" name="Google Shape;171;h30d0de06c448fff3_0_56">
              <a:extLst>
                <a:ext uri="{FF2B5EF4-FFF2-40B4-BE49-F238E27FC236}">
                  <a16:creationId xmlns:a16="http://schemas.microsoft.com/office/drawing/2014/main" id="{8496D429-76E4-E4E9-FFA1-0806ED85FCE0}"/>
                </a:ext>
              </a:extLst>
            </p:cNvPr>
            <p:cNvGrpSpPr/>
            <p:nvPr/>
          </p:nvGrpSpPr>
          <p:grpSpPr>
            <a:xfrm>
              <a:off x="10266948" y="-206018"/>
              <a:ext cx="1339500" cy="1716600"/>
              <a:chOff x="10266948" y="-206018"/>
              <a:chExt cx="1339500" cy="1716600"/>
            </a:xfrm>
          </p:grpSpPr>
          <p:sp>
            <p:nvSpPr>
              <p:cNvPr id="172" name="Google Shape;172;h30d0de06c448fff3_0_56">
                <a:extLst>
                  <a:ext uri="{FF2B5EF4-FFF2-40B4-BE49-F238E27FC236}">
                    <a16:creationId xmlns:a16="http://schemas.microsoft.com/office/drawing/2014/main" id="{689A3088-3D3E-0A26-EA7C-59CDC8B6605A}"/>
                  </a:ext>
                </a:extLst>
              </p:cNvPr>
              <p:cNvSpPr txBox="1"/>
              <p:nvPr/>
            </p:nvSpPr>
            <p:spPr>
              <a:xfrm>
                <a:off x="10266948" y="-206018"/>
                <a:ext cx="1339500" cy="17166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lang="es-MX" sz="2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73" name="Google Shape;173;h30d0de06c448fff3_0_56">
                <a:extLst>
                  <a:ext uri="{FF2B5EF4-FFF2-40B4-BE49-F238E27FC236}">
                    <a16:creationId xmlns:a16="http://schemas.microsoft.com/office/drawing/2014/main" id="{F995077C-F7D3-D466-B74A-60C6ECECD90C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74" name="Google Shape;174;h30d0de06c448fff3_0_56">
            <a:extLst>
              <a:ext uri="{FF2B5EF4-FFF2-40B4-BE49-F238E27FC236}">
                <a16:creationId xmlns:a16="http://schemas.microsoft.com/office/drawing/2014/main" id="{54D03B54-C6AD-5B74-EB7F-1CEC26DF7D37}"/>
              </a:ext>
            </a:extLst>
          </p:cNvPr>
          <p:cNvSpPr txBox="1"/>
          <p:nvPr/>
        </p:nvSpPr>
        <p:spPr>
          <a:xfrm>
            <a:off x="957048" y="1570814"/>
            <a:ext cx="10213598" cy="293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700" b="1" dirty="0"/>
              <a:t>Tiempo (Indicador Regional)</a:t>
            </a:r>
            <a:r>
              <a:rPr lang="es-ES" sz="1700" dirty="0"/>
              <a:t>: Bucle Python (0,144 s) vs Pandas </a:t>
            </a:r>
            <a:r>
              <a:rPr lang="es-ES" sz="1700" i="1" dirty="0" err="1"/>
              <a:t>groupby</a:t>
            </a:r>
            <a:r>
              <a:rPr lang="es-ES" sz="1700" dirty="0"/>
              <a:t> (0,010 s) – 14 veces más rápido.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ES" sz="1700" dirty="0"/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ES" sz="1700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700" b="1" dirty="0"/>
              <a:t>Espacio (Carga de Datos)</a:t>
            </a:r>
            <a:r>
              <a:rPr lang="es-ES" sz="1700" dirty="0"/>
              <a:t>: Lectura completa de 25 columnas (408,08 MB) vs Lectura selectiva de 6 columnas (127,30 MB) – 68% de ahorro en RAM profunda.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ES" sz="1700" b="1" dirty="0"/>
          </a:p>
        </p:txBody>
      </p:sp>
      <p:sp>
        <p:nvSpPr>
          <p:cNvPr id="2" name="Google Shape;222;p6">
            <a:extLst>
              <a:ext uri="{FF2B5EF4-FFF2-40B4-BE49-F238E27FC236}">
                <a16:creationId xmlns:a16="http://schemas.microsoft.com/office/drawing/2014/main" id="{DF161F1A-718D-D4F0-22FC-3065130291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002" y="244827"/>
            <a:ext cx="1021359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sz="2800" b="1" dirty="0"/>
              <a:t>Medición de Complejidad y Optimización</a:t>
            </a:r>
            <a:br>
              <a:rPr lang="es-ES" sz="2800" b="1" dirty="0"/>
            </a:br>
            <a:r>
              <a:rPr lang="es-ES" sz="2400" dirty="0"/>
              <a:t>Eficiencia Temporal y Espacial</a:t>
            </a:r>
            <a:endParaRPr lang="es-ES" sz="2800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60CC13C-379F-A5B2-77FA-CD48EDA2A3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9034" y="4260498"/>
            <a:ext cx="8429625" cy="235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27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4C04E5A7-C37B-2376-9038-EF4F5D67A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9" name="Google Shape;169;h30d0de06c448fff3_0_56">
            <a:extLst>
              <a:ext uri="{FF2B5EF4-FFF2-40B4-BE49-F238E27FC236}">
                <a16:creationId xmlns:a16="http://schemas.microsoft.com/office/drawing/2014/main" id="{FB20A51C-1B0A-B624-56F3-52F418135D95}"/>
              </a:ext>
            </a:extLst>
          </p:cNvPr>
          <p:cNvGrpSpPr/>
          <p:nvPr/>
        </p:nvGrpSpPr>
        <p:grpSpPr>
          <a:xfrm>
            <a:off x="302002" y="-206018"/>
            <a:ext cx="11544900" cy="6812427"/>
            <a:chOff x="302002" y="-206018"/>
            <a:chExt cx="11544900" cy="6812427"/>
          </a:xfrm>
        </p:grpSpPr>
        <p:sp>
          <p:nvSpPr>
            <p:cNvPr id="170" name="Google Shape;170;h30d0de06c448fff3_0_56">
              <a:extLst>
                <a:ext uri="{FF2B5EF4-FFF2-40B4-BE49-F238E27FC236}">
                  <a16:creationId xmlns:a16="http://schemas.microsoft.com/office/drawing/2014/main" id="{8440B509-91DB-32E7-9F66-1FBD98B5A0D5}"/>
                </a:ext>
              </a:extLst>
            </p:cNvPr>
            <p:cNvSpPr/>
            <p:nvPr/>
          </p:nvSpPr>
          <p:spPr>
            <a:xfrm>
              <a:off x="302002" y="907609"/>
              <a:ext cx="11544900" cy="5698800"/>
            </a:xfrm>
            <a:prstGeom prst="rect">
              <a:avLst/>
            </a:prstGeom>
            <a:noFill/>
            <a:ln w="12700" cap="flat" cmpd="sng">
              <a:solidFill>
                <a:srgbClr val="BFBFB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grpSp>
          <p:nvGrpSpPr>
            <p:cNvPr id="171" name="Google Shape;171;h30d0de06c448fff3_0_56">
              <a:extLst>
                <a:ext uri="{FF2B5EF4-FFF2-40B4-BE49-F238E27FC236}">
                  <a16:creationId xmlns:a16="http://schemas.microsoft.com/office/drawing/2014/main" id="{040BB176-9530-527F-B16A-B21807305218}"/>
                </a:ext>
              </a:extLst>
            </p:cNvPr>
            <p:cNvGrpSpPr/>
            <p:nvPr/>
          </p:nvGrpSpPr>
          <p:grpSpPr>
            <a:xfrm>
              <a:off x="10266948" y="-206018"/>
              <a:ext cx="1339500" cy="1716600"/>
              <a:chOff x="10266948" y="-206018"/>
              <a:chExt cx="1339500" cy="1716600"/>
            </a:xfrm>
          </p:grpSpPr>
          <p:sp>
            <p:nvSpPr>
              <p:cNvPr id="172" name="Google Shape;172;h30d0de06c448fff3_0_56">
                <a:extLst>
                  <a:ext uri="{FF2B5EF4-FFF2-40B4-BE49-F238E27FC236}">
                    <a16:creationId xmlns:a16="http://schemas.microsoft.com/office/drawing/2014/main" id="{5DF8FB44-FF5C-DB63-4055-41E45B5AB88D}"/>
                  </a:ext>
                </a:extLst>
              </p:cNvPr>
              <p:cNvSpPr txBox="1"/>
              <p:nvPr/>
            </p:nvSpPr>
            <p:spPr>
              <a:xfrm>
                <a:off x="10266948" y="-206018"/>
                <a:ext cx="1339500" cy="1716600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rm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2800"/>
                  <a:buFont typeface="Calibri"/>
                  <a:buNone/>
                </a:pPr>
                <a:r>
                  <a:rPr lang="es-MX" sz="2800" b="0" i="0" u="none" strike="noStrike" cap="non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</a:t>
                </a:r>
                <a:endParaRPr sz="2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173" name="Google Shape;173;h30d0de06c448fff3_0_56">
                <a:extLst>
                  <a:ext uri="{FF2B5EF4-FFF2-40B4-BE49-F238E27FC236}">
                    <a16:creationId xmlns:a16="http://schemas.microsoft.com/office/drawing/2014/main" id="{4E727F80-5409-DB79-DDDD-9EAB71CB6548}"/>
                  </a:ext>
                </a:extLst>
              </p:cNvPr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10375523" y="394074"/>
                <a:ext cx="1151092" cy="9733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74" name="Google Shape;174;h30d0de06c448fff3_0_56">
            <a:extLst>
              <a:ext uri="{FF2B5EF4-FFF2-40B4-BE49-F238E27FC236}">
                <a16:creationId xmlns:a16="http://schemas.microsoft.com/office/drawing/2014/main" id="{B8BD62F6-D670-36D8-C9A3-4CDB894F0DB0}"/>
              </a:ext>
            </a:extLst>
          </p:cNvPr>
          <p:cNvSpPr txBox="1"/>
          <p:nvPr/>
        </p:nvSpPr>
        <p:spPr>
          <a:xfrm>
            <a:off x="957048" y="1570814"/>
            <a:ext cx="10213598" cy="293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700" dirty="0"/>
              <a:t>Transformación de la variable categórica REGION_RESIDENCIA mediante </a:t>
            </a:r>
            <a:r>
              <a:rPr lang="es-ES" sz="1700" i="1" dirty="0"/>
              <a:t>One-Hot </a:t>
            </a:r>
            <a:r>
              <a:rPr lang="es-ES" sz="1700" i="1" dirty="0" err="1"/>
              <a:t>Encoding</a:t>
            </a:r>
            <a:r>
              <a:rPr lang="es-ES" sz="1700" dirty="0"/>
              <a:t>.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s-ES" sz="1700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700" b="1" dirty="0"/>
              <a:t>Control de fuga de datos</a:t>
            </a:r>
            <a:r>
              <a:rPr lang="es-ES" sz="1700" dirty="0"/>
              <a:t>: Vocabulario aprendido estrictamente del 80% de los datos (entrenamiento).</a:t>
            </a:r>
            <a:endParaRPr lang="es-ES" sz="1700" b="1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S" sz="1700" b="1" dirty="0"/>
          </a:p>
          <a:p>
            <a:pPr marL="2857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700" b="1" dirty="0"/>
              <a:t>Tolerancia a fallos</a:t>
            </a:r>
            <a:r>
              <a:rPr lang="es-ES" sz="1700" dirty="0"/>
              <a:t>: Configuración (</a:t>
            </a:r>
            <a:r>
              <a:rPr lang="es-ES" sz="1700" i="1" dirty="0" err="1"/>
              <a:t>handle_Unknown</a:t>
            </a:r>
            <a:r>
              <a:rPr lang="es-ES" sz="1700" i="1" dirty="0"/>
              <a:t>=‘ignore’</a:t>
            </a:r>
            <a:r>
              <a:rPr lang="es-ES" sz="1700" dirty="0"/>
              <a:t>) para asignar ceros ante categorías nuevas en el conjunto de prueba, previniendo errores de ejecución.</a:t>
            </a:r>
          </a:p>
        </p:txBody>
      </p:sp>
      <p:sp>
        <p:nvSpPr>
          <p:cNvPr id="2" name="Google Shape;222;p6">
            <a:extLst>
              <a:ext uri="{FF2B5EF4-FFF2-40B4-BE49-F238E27FC236}">
                <a16:creationId xmlns:a16="http://schemas.microsoft.com/office/drawing/2014/main" id="{377D30B7-1C1F-063A-C9D4-29FF6A9469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02002" y="244827"/>
            <a:ext cx="10213598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ES" sz="2800" b="1" dirty="0"/>
              <a:t>Codificación Nominal y Robustez</a:t>
            </a:r>
            <a:br>
              <a:rPr lang="es-ES" sz="2800" b="1" dirty="0"/>
            </a:br>
            <a:r>
              <a:rPr lang="es-ES" sz="2400" dirty="0"/>
              <a:t>Preparación para Modelado</a:t>
            </a:r>
            <a:endParaRPr lang="es-ES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4575264-F739-12FA-1869-873E8A4763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309" y="4682359"/>
            <a:ext cx="1012507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831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h30d0de06c448fff3_1_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3" name="Google Shape;233;h30d0de06c448fff3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>
          <a:extLst>
            <a:ext uri="{FF2B5EF4-FFF2-40B4-BE49-F238E27FC236}">
              <a16:creationId xmlns:a16="http://schemas.microsoft.com/office/drawing/2014/main" id="{02B64A66-4086-B1C5-145B-966966D8F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h30d0de06c448fff3_1_7">
            <a:extLst>
              <a:ext uri="{FF2B5EF4-FFF2-40B4-BE49-F238E27FC236}">
                <a16:creationId xmlns:a16="http://schemas.microsoft.com/office/drawing/2014/main" id="{B35745FF-CCB6-2EA4-E48B-5529475AEB8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h30d0de06c448fff3_1_7">
            <a:extLst>
              <a:ext uri="{FF2B5EF4-FFF2-40B4-BE49-F238E27FC236}">
                <a16:creationId xmlns:a16="http://schemas.microsoft.com/office/drawing/2014/main" id="{FD78793B-03D2-9266-CF1F-D0F91B7DAEE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1" name="Google Shape;241;h30d0de06c448fff3_1_7">
            <a:extLst>
              <a:ext uri="{FF2B5EF4-FFF2-40B4-BE49-F238E27FC236}">
                <a16:creationId xmlns:a16="http://schemas.microsoft.com/office/drawing/2014/main" id="{660FDC6D-CF83-18B6-303B-66BA4F1ABAB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7706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30d0de06c448fff3_1_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h30d0de06c448fff3_1_1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9" name="Google Shape;249;h30d0de06c448fff3_1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h30d0de06c448fff3_1_2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h30d0de06c448fff3_1_2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7" name="Google Shape;257;h30d0de06c448fff3_1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2400" y="2606876"/>
            <a:ext cx="1727200" cy="146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7"/>
          <p:cNvSpPr txBox="1"/>
          <p:nvPr/>
        </p:nvSpPr>
        <p:spPr>
          <a:xfrm>
            <a:off x="2476500" y="571500"/>
            <a:ext cx="7620000" cy="569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3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CONCLUSIONES Y LÍMITES</a:t>
            </a:r>
            <a:endParaRPr/>
          </a:p>
        </p:txBody>
      </p:sp>
      <p:sp>
        <p:nvSpPr>
          <p:cNvPr id="265" name="Google Shape;265;p7"/>
          <p:cNvSpPr txBox="1"/>
          <p:nvPr/>
        </p:nvSpPr>
        <p:spPr>
          <a:xfrm>
            <a:off x="2032000" y="4406900"/>
            <a:ext cx="8318500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MX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Respondimos las tres preguntas originales.</a:t>
            </a:r>
            <a:br>
              <a:rPr lang="es-MX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MX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700">
                <a:solidFill>
                  <a:srgbClr val="FFFFFF"/>
                </a:solidFill>
              </a:rPr>
              <a:t>Los contrastes estadísticos detectaron diferencias entre regiones, mientras que los promedios diarios mostraron variación entre meses.</a:t>
            </a:r>
            <a:br>
              <a:rPr lang="es-MX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lang="es-MX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MX" sz="1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serie 2020–2023 describe patrones, pero no permite identificar sus causas.</a:t>
            </a:r>
            <a:endParaRPr sz="17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1210</Words>
  <Application>Microsoft Office PowerPoint</Application>
  <PresentationFormat>Panorámica</PresentationFormat>
  <Paragraphs>130</Paragraphs>
  <Slides>19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Tema de Office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Enfoque Estructurado vs Recursivo Decisiones de Diseño Algorítmico</vt:lpstr>
      <vt:lpstr>Medición de Complejidad y Optimización Eficiencia Temporal y Espacial</vt:lpstr>
      <vt:lpstr>Codificación Nominal y Robustez Preparación para Modelado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Robert Aldo Pardo Silva</dc:creator>
  <cp:lastModifiedBy>Jorge Altamirano</cp:lastModifiedBy>
  <cp:revision>2</cp:revision>
  <dcterms:created xsi:type="dcterms:W3CDTF">2023-10-13T18:05:47Z</dcterms:created>
  <dcterms:modified xsi:type="dcterms:W3CDTF">2026-10-05T22:39:57Z</dcterms:modified>
</cp:coreProperties>
</file>