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 id="214748365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7" roundtripDataSignature="AMtx7mh/aZ4YF5X6+lPubKN6+65uZacEs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0804397-5554-4248-9CA0-9E1D8B1B4C75}">
  <a:tblStyle styleId="{80804397-5554-4248-9CA0-9E1D8B1B4C7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7" Type="http://customschemas.google.com/relationships/presentationmetadata" Target="meta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s-MX"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Presentar a Cristian, Jorge, Renzo y Luis. Cada fila representa un nacido vivo registrado. El proyecto responde tres preguntas descriptivas definidas en F1. Fuente: DEIS/MINSAL.</a:t>
            </a:r>
            <a:endParaRPr/>
          </a:p>
        </p:txBody>
      </p:sp>
      <p:sp>
        <p:nvSpPr>
          <p:cNvPr id="99" name="Google Shape;9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Explicar la continuidad entre fases. El notebook F4 verifica las 735.611 filas, las 16 regiones, los 48 pares año-mes y la huella del archivo original.</a:t>
            </a:r>
            <a:endParaRPr/>
          </a:p>
        </p:txBody>
      </p:sp>
      <p:sp>
        <p:nvSpPr>
          <p:cNvPr id="109" name="Google Shape;10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h30d0de06c448fff3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h30d0de06c448fff3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Explicar la continuidad entre fases. El notebook F4 verifica las 735.611 filas, las 16 regiones, los 48 pares año-mes y la huella del archivo original.</a:t>
            </a:r>
            <a:endParaRPr/>
          </a:p>
        </p:txBody>
      </p:sp>
      <p:sp>
        <p:nvSpPr>
          <p:cNvPr id="121" name="Google Shape;121;h30d0de06c448fff3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h30d0de06c448fff3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h30d0de06c448fff3_0_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Explicar la continuidad entre fases. El notebook F4 verifica las 735.611 filas, las 16 regiones, los 48 pares año-mes y la huella del archivo original.</a:t>
            </a:r>
            <a:endParaRPr/>
          </a:p>
        </p:txBody>
      </p:sp>
      <p:sp>
        <p:nvSpPr>
          <p:cNvPr id="133" name="Google Shape;133;h30d0de06c448fff3_0_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h30d0de06c448fff3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 name="Google Shape;144;h30d0de06c448fff3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Explicar la continuidad entre fases. El notebook F4 verifica las 735.611 filas, las 16 regiones, los 48 pares año-mes y la huella del archivo original.</a:t>
            </a:r>
            <a:endParaRPr/>
          </a:p>
        </p:txBody>
      </p:sp>
      <p:sp>
        <p:nvSpPr>
          <p:cNvPr id="145" name="Google Shape;145;h30d0de06c448fff3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h30d0de06c448fff3_0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h30d0de06c448fff3_0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Explicar la continuidad entre fases. El notebook F4 verifica las 735.611 filas, las 16 regiones, los 48 pares año-mes y la huella del archivo original.</a:t>
            </a:r>
            <a:endParaRPr/>
          </a:p>
        </p:txBody>
      </p:sp>
      <p:sp>
        <p:nvSpPr>
          <p:cNvPr id="156" name="Google Shape;156;h30d0de06c448fff3_0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h30d0de06c448fff3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h30d0de06c448fff3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Explicar la continuidad entre fases. El notebook F4 verifica las 735.611 filas, las 16 regiones, los 48 pares año-mes y la huella del archivo original.</a:t>
            </a:r>
            <a:endParaRPr/>
          </a:p>
        </p:txBody>
      </p:sp>
      <p:sp>
        <p:nvSpPr>
          <p:cNvPr id="167" name="Google Shape;167;h30d0de06c448fff3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h30d0de06c448fff3_2_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h30d0de06c448fff3_2_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h30d0de06c448fff3_2_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h30d0de06c448fff3_2_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h30d0de06c448fff3_2_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0" name="Google Shape;190;h30d0de06c448fff3_2_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h30d0de06c448fff3_2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h30d0de06c448fff3_2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2" name="Google Shape;202;h30d0de06c448fff3_2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h25565c23ec57d54e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h25565c23ec57d54e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4" name="Google Shape;214;h25565c23ec57d54e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h25565c23ec57d54e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h25565c23ec57d54e_0_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0" name="Google Shape;220;h25565c23ec57d54e_0_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h25565c23ec57d54e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h25565c23ec57d54e_0_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6" name="Google Shape;226;h25565c23ec57d54e_0_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h25565c23ec57d54e_0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h25565c23ec57d54e_0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2" name="Google Shape;232;h25565c23ec57d54e_0_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Estas mediciones corresponden al equipo y entorno de F3. groupby tardó unas 15,9 veces menos. La lectura selectiva redujo la memoria del DataFrame. El pico de tracemalloc fue mayor con groupby, pero no representa toda la memoria del proceso.</a:t>
            </a:r>
            <a:endParaRPr/>
          </a:p>
        </p:txBody>
      </p:sp>
      <p:sp>
        <p:nvSpPr>
          <p:cNvPr id="238" name="Google Shape;23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h30d0de06c448fff3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2" name="Google Shape;252;h30d0de06c448fff3_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h30d0de06c448fff3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s-MX"/>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30d0de06c448fff3_1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60" name="Google Shape;260;h30d0de06c448fff3_1_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1" name="Google Shape;261;h30d0de06c448fff3_1_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s-MX"/>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h30d0de06c448fff3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68" name="Google Shape;268;h30d0de06c448fff3_1_1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9" name="Google Shape;269;h30d0de06c448fff3_1_1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s-MX"/>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h30d0de06c448fff3_1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76" name="Google Shape;276;h30d0de06c448fff3_1_2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7" name="Google Shape;277;h30d0de06c448fff3_1_2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s-MX"/>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 name="Google Shape;28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s-MX"/>
              <a:t>Cierre: retomar las tres preguntas y las unidades de cada resultado. La asociación entre región y maternidad menor de 20 años tuvo V de Cramér 0,036, pequeña pese al p-value bajo. Proponer ampliar la serie histórica y separar tendencia anual de estacionalidad.</a:t>
            </a:r>
            <a:endParaRPr/>
          </a:p>
        </p:txBody>
      </p:sp>
      <p:sp>
        <p:nvSpPr>
          <p:cNvPr id="285" name="Google Shape;28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15" name="Shape 15"/>
        <p:cNvGrpSpPr/>
        <p:nvPr/>
      </p:nvGrpSpPr>
      <p:grpSpPr>
        <a:xfrm>
          <a:off x="0" y="0"/>
          <a:ext cx="0" cy="0"/>
          <a:chOff x="0" y="0"/>
          <a:chExt cx="0" cy="0"/>
        </a:xfrm>
      </p:grpSpPr>
      <p:sp>
        <p:nvSpPr>
          <p:cNvPr id="16" name="Google Shape;16;p11"/>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lt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1"/>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lt1"/>
              </a:buClr>
              <a:buSzPts val="2400"/>
              <a:buNone/>
              <a:defRPr sz="2400"/>
            </a:lvl1pPr>
            <a:lvl2pPr lvl="1" algn="ctr">
              <a:lnSpc>
                <a:spcPct val="90000"/>
              </a:lnSpc>
              <a:spcBef>
                <a:spcPts val="500"/>
              </a:spcBef>
              <a:spcAft>
                <a:spcPts val="0"/>
              </a:spcAft>
              <a:buClr>
                <a:schemeClr val="lt1"/>
              </a:buClr>
              <a:buSzPts val="2000"/>
              <a:buNone/>
              <a:defRPr sz="2000"/>
            </a:lvl2pPr>
            <a:lvl3pPr lvl="2" algn="ctr">
              <a:lnSpc>
                <a:spcPct val="90000"/>
              </a:lnSpc>
              <a:spcBef>
                <a:spcPts val="500"/>
              </a:spcBef>
              <a:spcAft>
                <a:spcPts val="0"/>
              </a:spcAft>
              <a:buClr>
                <a:schemeClr val="lt1"/>
              </a:buClr>
              <a:buSzPts val="1800"/>
              <a:buNone/>
              <a:defRPr sz="1800"/>
            </a:lvl3pPr>
            <a:lvl4pPr lvl="3" algn="ctr">
              <a:lnSpc>
                <a:spcPct val="90000"/>
              </a:lnSpc>
              <a:spcBef>
                <a:spcPts val="500"/>
              </a:spcBef>
              <a:spcAft>
                <a:spcPts val="0"/>
              </a:spcAft>
              <a:buClr>
                <a:schemeClr val="lt1"/>
              </a:buClr>
              <a:buSzPts val="1600"/>
              <a:buNone/>
              <a:defRPr sz="1600"/>
            </a:lvl4pPr>
            <a:lvl5pPr lvl="4" algn="ctr">
              <a:lnSpc>
                <a:spcPct val="90000"/>
              </a:lnSpc>
              <a:spcBef>
                <a:spcPts val="500"/>
              </a:spcBef>
              <a:spcAft>
                <a:spcPts val="0"/>
              </a:spcAft>
              <a:buClr>
                <a:schemeClr val="lt1"/>
              </a:buClr>
              <a:buSzPts val="1600"/>
              <a:buNone/>
              <a:defRPr sz="1600"/>
            </a:lvl5pPr>
            <a:lvl6pPr lvl="5" algn="ctr">
              <a:lnSpc>
                <a:spcPct val="90000"/>
              </a:lnSpc>
              <a:spcBef>
                <a:spcPts val="500"/>
              </a:spcBef>
              <a:spcAft>
                <a:spcPts val="0"/>
              </a:spcAft>
              <a:buClr>
                <a:schemeClr val="lt1"/>
              </a:buClr>
              <a:buSzPts val="1600"/>
              <a:buNone/>
              <a:defRPr sz="1600"/>
            </a:lvl6pPr>
            <a:lvl7pPr lvl="6" algn="ctr">
              <a:lnSpc>
                <a:spcPct val="90000"/>
              </a:lnSpc>
              <a:spcBef>
                <a:spcPts val="500"/>
              </a:spcBef>
              <a:spcAft>
                <a:spcPts val="0"/>
              </a:spcAft>
              <a:buClr>
                <a:schemeClr val="lt1"/>
              </a:buClr>
              <a:buSzPts val="1600"/>
              <a:buNone/>
              <a:defRPr sz="1600"/>
            </a:lvl7pPr>
            <a:lvl8pPr lvl="7" algn="ctr">
              <a:lnSpc>
                <a:spcPct val="90000"/>
              </a:lnSpc>
              <a:spcBef>
                <a:spcPts val="500"/>
              </a:spcBef>
              <a:spcAft>
                <a:spcPts val="0"/>
              </a:spcAft>
              <a:buClr>
                <a:schemeClr val="lt1"/>
              </a:buClr>
              <a:buSzPts val="1600"/>
              <a:buNone/>
              <a:defRPr sz="1600"/>
            </a:lvl8pPr>
            <a:lvl9pPr lvl="8" algn="ctr">
              <a:lnSpc>
                <a:spcPct val="90000"/>
              </a:lnSpc>
              <a:spcBef>
                <a:spcPts val="500"/>
              </a:spcBef>
              <a:spcAft>
                <a:spcPts val="0"/>
              </a:spcAft>
              <a:buClr>
                <a:schemeClr val="lt1"/>
              </a:buClr>
              <a:buSzPts val="1600"/>
              <a:buNone/>
              <a:defRPr sz="1600"/>
            </a:lvl9pPr>
          </a:lstStyle>
          <a:p/>
        </p:txBody>
      </p:sp>
      <p:sp>
        <p:nvSpPr>
          <p:cNvPr id="18" name="Google Shape;18;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type="obj">
  <p:cSld name="OBJECT">
    <p:spTree>
      <p:nvGrpSpPr>
        <p:cNvPr id="27" name="Shape 27"/>
        <p:cNvGrpSpPr/>
        <p:nvPr/>
      </p:nvGrpSpPr>
      <p:grpSpPr>
        <a:xfrm>
          <a:off x="0" y="0"/>
          <a:ext cx="0" cy="0"/>
          <a:chOff x="0" y="0"/>
          <a:chExt cx="0" cy="0"/>
        </a:xfrm>
      </p:grpSpPr>
      <p:sp>
        <p:nvSpPr>
          <p:cNvPr id="28" name="Google Shape;28;p1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2"/>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33" name="Shape 33"/>
        <p:cNvGrpSpPr/>
        <p:nvPr/>
      </p:nvGrpSpPr>
      <p:grpSpPr>
        <a:xfrm>
          <a:off x="0" y="0"/>
          <a:ext cx="0" cy="0"/>
          <a:chOff x="0" y="0"/>
          <a:chExt cx="0" cy="0"/>
        </a:xfrm>
      </p:grpSpPr>
      <p:sp>
        <p:nvSpPr>
          <p:cNvPr id="34" name="Google Shape;34;p10"/>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0"/>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6" name="Google Shape;36;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type="secHead">
  <p:cSld name="SECTION_HEADER">
    <p:spTree>
      <p:nvGrpSpPr>
        <p:cNvPr id="39" name="Shape 39"/>
        <p:cNvGrpSpPr/>
        <p:nvPr/>
      </p:nvGrpSpPr>
      <p:grpSpPr>
        <a:xfrm>
          <a:off x="0" y="0"/>
          <a:ext cx="0" cy="0"/>
          <a:chOff x="0" y="0"/>
          <a:chExt cx="0" cy="0"/>
        </a:xfrm>
      </p:grpSpPr>
      <p:sp>
        <p:nvSpPr>
          <p:cNvPr id="40" name="Google Shape;40;p13"/>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 name="Google Shape;41;p13"/>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42" name="Google Shape;42;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os objetos" type="twoObj">
  <p:cSld name="TWO_OBJECTS">
    <p:spTree>
      <p:nvGrpSpPr>
        <p:cNvPr id="45" name="Shape 45"/>
        <p:cNvGrpSpPr/>
        <p:nvPr/>
      </p:nvGrpSpPr>
      <p:grpSpPr>
        <a:xfrm>
          <a:off x="0" y="0"/>
          <a:ext cx="0" cy="0"/>
          <a:chOff x="0" y="0"/>
          <a:chExt cx="0" cy="0"/>
        </a:xfrm>
      </p:grpSpPr>
      <p:sp>
        <p:nvSpPr>
          <p:cNvPr id="46" name="Google Shape;46;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14"/>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14"/>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ción" type="twoTxTwoObj">
  <p:cSld name="TWO_OBJECTS_WITH_TEXT">
    <p:spTree>
      <p:nvGrpSpPr>
        <p:cNvPr id="52" name="Shape 52"/>
        <p:cNvGrpSpPr/>
        <p:nvPr/>
      </p:nvGrpSpPr>
      <p:grpSpPr>
        <a:xfrm>
          <a:off x="0" y="0"/>
          <a:ext cx="0" cy="0"/>
          <a:chOff x="0" y="0"/>
          <a:chExt cx="0" cy="0"/>
        </a:xfrm>
      </p:grpSpPr>
      <p:sp>
        <p:nvSpPr>
          <p:cNvPr id="53" name="Google Shape;53;p15"/>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 name="Google Shape;54;p15"/>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5" name="Google Shape;55;p15"/>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6" name="Google Shape;56;p15"/>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7" name="Google Shape;57;p15"/>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8" name="Google Shape;58;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61" name="Shape 61"/>
        <p:cNvGrpSpPr/>
        <p:nvPr/>
      </p:nvGrpSpPr>
      <p:grpSpPr>
        <a:xfrm>
          <a:off x="0" y="0"/>
          <a:ext cx="0" cy="0"/>
          <a:chOff x="0" y="0"/>
          <a:chExt cx="0" cy="0"/>
        </a:xfrm>
      </p:grpSpPr>
      <p:sp>
        <p:nvSpPr>
          <p:cNvPr id="62" name="Google Shape;62;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type="blank">
  <p:cSld name="BLANK">
    <p:spTree>
      <p:nvGrpSpPr>
        <p:cNvPr id="66" name="Shape 66"/>
        <p:cNvGrpSpPr/>
        <p:nvPr/>
      </p:nvGrpSpPr>
      <p:grpSpPr>
        <a:xfrm>
          <a:off x="0" y="0"/>
          <a:ext cx="0" cy="0"/>
          <a:chOff x="0" y="0"/>
          <a:chExt cx="0" cy="0"/>
        </a:xfrm>
      </p:grpSpPr>
      <p:sp>
        <p:nvSpPr>
          <p:cNvPr id="67" name="Google Shape;67;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con título" type="objTx">
  <p:cSld name="OBJECT_WITH_CAPTION_TEXT">
    <p:spTree>
      <p:nvGrpSpPr>
        <p:cNvPr id="70" name="Shape 70"/>
        <p:cNvGrpSpPr/>
        <p:nvPr/>
      </p:nvGrpSpPr>
      <p:grpSpPr>
        <a:xfrm>
          <a:off x="0" y="0"/>
          <a:ext cx="0" cy="0"/>
          <a:chOff x="0" y="0"/>
          <a:chExt cx="0" cy="0"/>
        </a:xfrm>
      </p:grpSpPr>
      <p:sp>
        <p:nvSpPr>
          <p:cNvPr id="71" name="Google Shape;71;p18"/>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8"/>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73" name="Google Shape;73;p18"/>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4" name="Google Shape;74;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n con título" type="picTx">
  <p:cSld name="PICTURE_WITH_CAPTION_TEXT">
    <p:spTree>
      <p:nvGrpSpPr>
        <p:cNvPr id="77" name="Shape 77"/>
        <p:cNvGrpSpPr/>
        <p:nvPr/>
      </p:nvGrpSpPr>
      <p:grpSpPr>
        <a:xfrm>
          <a:off x="0" y="0"/>
          <a:ext cx="0" cy="0"/>
          <a:chOff x="0" y="0"/>
          <a:chExt cx="0" cy="0"/>
        </a:xfrm>
      </p:grpSpPr>
      <p:sp>
        <p:nvSpPr>
          <p:cNvPr id="78" name="Google Shape;78;p1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9"/>
          <p:cNvSpPr/>
          <p:nvPr>
            <p:ph idx="2" type="pic"/>
          </p:nvPr>
        </p:nvSpPr>
        <p:spPr>
          <a:xfrm>
            <a:off x="5183188" y="987425"/>
            <a:ext cx="6172200" cy="4873625"/>
          </a:xfrm>
          <a:prstGeom prst="rect">
            <a:avLst/>
          </a:prstGeom>
          <a:noFill/>
          <a:ln>
            <a:noFill/>
          </a:ln>
        </p:spPr>
      </p:sp>
      <p:sp>
        <p:nvSpPr>
          <p:cNvPr id="80" name="Google Shape;80;p19"/>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81" name="Google Shape;81;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texto vertical" type="vertTx">
  <p:cSld name="VERTICAL_TEXT">
    <p:spTree>
      <p:nvGrpSpPr>
        <p:cNvPr id="84" name="Shape 84"/>
        <p:cNvGrpSpPr/>
        <p:nvPr/>
      </p:nvGrpSpPr>
      <p:grpSpPr>
        <a:xfrm>
          <a:off x="0" y="0"/>
          <a:ext cx="0" cy="0"/>
          <a:chOff x="0" y="0"/>
          <a:chExt cx="0" cy="0"/>
        </a:xfrm>
      </p:grpSpPr>
      <p:sp>
        <p:nvSpPr>
          <p:cNvPr id="85" name="Google Shape;85;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20"/>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7" name="Google Shape;87;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ertical y texto" type="vertTitleAndTx">
  <p:cSld name="VERTICAL_TITLE_AND_VERTICAL_TEXT">
    <p:spTree>
      <p:nvGrpSpPr>
        <p:cNvPr id="90" name="Shape 90"/>
        <p:cNvGrpSpPr/>
        <p:nvPr/>
      </p:nvGrpSpPr>
      <p:grpSpPr>
        <a:xfrm>
          <a:off x="0" y="0"/>
          <a:ext cx="0" cy="0"/>
          <a:chOff x="0" y="0"/>
          <a:chExt cx="0" cy="0"/>
        </a:xfrm>
      </p:grpSpPr>
      <p:sp>
        <p:nvSpPr>
          <p:cNvPr id="91" name="Google Shape;91;p21"/>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21"/>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3" name="Google Shape;93;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4" name="Google Shape;94;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MX"/>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11" Type="http://schemas.openxmlformats.org/officeDocument/2006/relationships/slideLayout" Target="../slideLayouts/slideLayout12.xml"/><Relationship Id="rId10" Type="http://schemas.openxmlformats.org/officeDocument/2006/relationships/slideLayout" Target="../slideLayouts/slideLayout11.xml"/><Relationship Id="rId12" Type="http://schemas.openxmlformats.org/officeDocument/2006/relationships/theme" Target="../theme/theme1.xml"/><Relationship Id="rId9" Type="http://schemas.openxmlformats.org/officeDocument/2006/relationships/slideLayout" Target="../slideLayouts/slideLayout10.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9" name="Shape 9"/>
        <p:cNvGrpSpPr/>
        <p:nvPr/>
      </p:nvGrpSpPr>
      <p:grpSpPr>
        <a:xfrm>
          <a:off x="0" y="0"/>
          <a:ext cx="0" cy="0"/>
          <a:chOff x="0" y="0"/>
          <a:chExt cx="0" cy="0"/>
        </a:xfrm>
      </p:grpSpPr>
      <p:sp>
        <p:nvSpPr>
          <p:cNvPr id="10" name="Google Shape;10;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4400"/>
              <a:buFont typeface="Calibri"/>
              <a:buNone/>
              <a:defRPr b="0" i="0" sz="4400" u="none" cap="none" strike="noStrik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lt1"/>
              </a:buClr>
              <a:buSzPts val="2800"/>
              <a:buFont typeface="Arial"/>
              <a:buChar char="•"/>
              <a:defRPr b="0" i="0" sz="2800" u="none" cap="none" strike="noStrike">
                <a:solidFill>
                  <a:schemeClr val="lt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lt1"/>
              </a:buClr>
              <a:buSzPts val="2400"/>
              <a:buFont typeface="Arial"/>
              <a:buChar char="•"/>
              <a:defRPr b="0" i="0" sz="2400" u="none" cap="none" strike="noStrike">
                <a:solidFill>
                  <a:schemeClr val="lt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lt1"/>
              </a:buClr>
              <a:buSzPts val="2000"/>
              <a:buFont typeface="Arial"/>
              <a:buChar char="•"/>
              <a:defRPr b="0" i="0" sz="2000" u="none" cap="none" strike="noStrike">
                <a:solidFill>
                  <a:schemeClr val="lt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lt1"/>
              </a:buClr>
              <a:buSzPts val="1800"/>
              <a:buFont typeface="Arial"/>
              <a:buChar char="•"/>
              <a:defRPr b="0" i="0" sz="1800" u="none" cap="none" strike="noStrike">
                <a:solidFill>
                  <a:schemeClr val="lt1"/>
                </a:solidFill>
                <a:latin typeface="Calibri"/>
                <a:ea typeface="Calibri"/>
                <a:cs typeface="Calibri"/>
                <a:sym typeface="Calibri"/>
              </a:defRPr>
            </a:lvl9pPr>
          </a:lstStyle>
          <a:p/>
        </p:txBody>
      </p:sp>
      <p:sp>
        <p:nvSpPr>
          <p:cNvPr id="12" name="Google Shape;12;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lt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9pPr>
          </a:lstStyle>
          <a:p/>
        </p:txBody>
      </p:sp>
      <p:sp>
        <p:nvSpPr>
          <p:cNvPr id="13" name="Google Shape;13;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chemeClr val="lt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lt1"/>
                </a:solidFill>
                <a:latin typeface="Calibri"/>
                <a:ea typeface="Calibri"/>
                <a:cs typeface="Calibri"/>
                <a:sym typeface="Calibri"/>
              </a:defRPr>
            </a:lvl9pPr>
          </a:lstStyle>
          <a:p/>
        </p:txBody>
      </p:sp>
      <p:sp>
        <p:nvSpPr>
          <p:cNvPr id="14" name="Google Shape;14;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chemeClr val="lt1"/>
                </a:solidFill>
                <a:latin typeface="Calibri"/>
                <a:ea typeface="Calibri"/>
                <a:cs typeface="Calibri"/>
                <a:sym typeface="Calibri"/>
              </a:defRPr>
            </a:lvl1pPr>
            <a:lvl2pPr indent="0" lvl="1" marL="0" marR="0" rtl="0" algn="r">
              <a:spcBef>
                <a:spcPts val="0"/>
              </a:spcBef>
              <a:buNone/>
              <a:defRPr b="0" i="0" sz="1200" u="none" cap="none" strike="noStrike">
                <a:solidFill>
                  <a:schemeClr val="lt1"/>
                </a:solidFill>
                <a:latin typeface="Calibri"/>
                <a:ea typeface="Calibri"/>
                <a:cs typeface="Calibri"/>
                <a:sym typeface="Calibri"/>
              </a:defRPr>
            </a:lvl2pPr>
            <a:lvl3pPr indent="0" lvl="2" marL="0" marR="0" rtl="0" algn="r">
              <a:spcBef>
                <a:spcPts val="0"/>
              </a:spcBef>
              <a:buNone/>
              <a:defRPr b="0" i="0" sz="1200" u="none" cap="none" strike="noStrike">
                <a:solidFill>
                  <a:schemeClr val="lt1"/>
                </a:solidFill>
                <a:latin typeface="Calibri"/>
                <a:ea typeface="Calibri"/>
                <a:cs typeface="Calibri"/>
                <a:sym typeface="Calibri"/>
              </a:defRPr>
            </a:lvl3pPr>
            <a:lvl4pPr indent="0" lvl="3" marL="0" marR="0" rtl="0" algn="r">
              <a:spcBef>
                <a:spcPts val="0"/>
              </a:spcBef>
              <a:buNone/>
              <a:defRPr b="0" i="0" sz="1200" u="none" cap="none" strike="noStrike">
                <a:solidFill>
                  <a:schemeClr val="lt1"/>
                </a:solidFill>
                <a:latin typeface="Calibri"/>
                <a:ea typeface="Calibri"/>
                <a:cs typeface="Calibri"/>
                <a:sym typeface="Calibri"/>
              </a:defRPr>
            </a:lvl4pPr>
            <a:lvl5pPr indent="0" lvl="4" marL="0" marR="0" rtl="0" algn="r">
              <a:spcBef>
                <a:spcPts val="0"/>
              </a:spcBef>
              <a:buNone/>
              <a:defRPr b="0" i="0" sz="1200" u="none" cap="none" strike="noStrike">
                <a:solidFill>
                  <a:schemeClr val="lt1"/>
                </a:solidFill>
                <a:latin typeface="Calibri"/>
                <a:ea typeface="Calibri"/>
                <a:cs typeface="Calibri"/>
                <a:sym typeface="Calibri"/>
              </a:defRPr>
            </a:lvl5pPr>
            <a:lvl6pPr indent="0" lvl="5" marL="0" marR="0" rtl="0" algn="r">
              <a:spcBef>
                <a:spcPts val="0"/>
              </a:spcBef>
              <a:buNone/>
              <a:defRPr b="0" i="0" sz="1200" u="none" cap="none" strike="noStrike">
                <a:solidFill>
                  <a:schemeClr val="lt1"/>
                </a:solidFill>
                <a:latin typeface="Calibri"/>
                <a:ea typeface="Calibri"/>
                <a:cs typeface="Calibri"/>
                <a:sym typeface="Calibri"/>
              </a:defRPr>
            </a:lvl6pPr>
            <a:lvl7pPr indent="0" lvl="6" marL="0" marR="0" rtl="0" algn="r">
              <a:spcBef>
                <a:spcPts val="0"/>
              </a:spcBef>
              <a:buNone/>
              <a:defRPr b="0" i="0" sz="1200" u="none" cap="none" strike="noStrike">
                <a:solidFill>
                  <a:schemeClr val="lt1"/>
                </a:solidFill>
                <a:latin typeface="Calibri"/>
                <a:ea typeface="Calibri"/>
                <a:cs typeface="Calibri"/>
                <a:sym typeface="Calibri"/>
              </a:defRPr>
            </a:lvl7pPr>
            <a:lvl8pPr indent="0" lvl="7" marL="0" marR="0" rtl="0" algn="r">
              <a:spcBef>
                <a:spcPts val="0"/>
              </a:spcBef>
              <a:buNone/>
              <a:defRPr b="0" i="0" sz="1200" u="none" cap="none" strike="noStrike">
                <a:solidFill>
                  <a:schemeClr val="lt1"/>
                </a:solidFill>
                <a:latin typeface="Calibri"/>
                <a:ea typeface="Calibri"/>
                <a:cs typeface="Calibri"/>
                <a:sym typeface="Calibri"/>
              </a:defRPr>
            </a:lvl8pPr>
            <a:lvl9pPr indent="0" lvl="8" marL="0" marR="0" rtl="0" algn="r">
              <a:spcBef>
                <a:spcPts val="0"/>
              </a:spcBef>
              <a:buNone/>
              <a:defRPr b="0" i="0" sz="12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MX"/>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 name="Shape 21"/>
        <p:cNvGrpSpPr/>
        <p:nvPr/>
      </p:nvGrpSpPr>
      <p:grpSpPr>
        <a:xfrm>
          <a:off x="0" y="0"/>
          <a:ext cx="0" cy="0"/>
          <a:chOff x="0" y="0"/>
          <a:chExt cx="0" cy="0"/>
        </a:xfrm>
      </p:grpSpPr>
      <p:sp>
        <p:nvSpPr>
          <p:cNvPr id="22" name="Google Shape;22;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3" name="Google Shape;23;p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4" name="Google Shape;24;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5" name="Google Shape;25;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6" name="Google Shape;26;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MX"/>
              <a:t>‹#›</a:t>
            </a:fld>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hyperlink" Target="https://deis.minsal.cl/#datosabierto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1"/>
          <p:cNvSpPr txBox="1"/>
          <p:nvPr/>
        </p:nvSpPr>
        <p:spPr>
          <a:xfrm>
            <a:off x="1717331" y="2894648"/>
            <a:ext cx="8757337" cy="741700"/>
          </a:xfrm>
          <a:prstGeom prst="rect">
            <a:avLst/>
          </a:prstGeom>
          <a:noFill/>
          <a:ln>
            <a:noFill/>
          </a:ln>
        </p:spPr>
        <p:txBody>
          <a:bodyPr anchorCtr="0" anchor="b" bIns="45700" lIns="91425" spcFirstLastPara="1" rIns="91425" wrap="square" tIns="45700">
            <a:noAutofit/>
          </a:bodyPr>
          <a:lstStyle/>
          <a:p>
            <a:pPr indent="0" lvl="0" marL="0" marR="0" rtl="0" algn="ctr">
              <a:lnSpc>
                <a:spcPct val="90000"/>
              </a:lnSpc>
              <a:spcBef>
                <a:spcPts val="0"/>
              </a:spcBef>
              <a:spcAft>
                <a:spcPts val="0"/>
              </a:spcAft>
              <a:buClr>
                <a:srgbClr val="FFFFFF"/>
              </a:buClr>
              <a:buSzPts val="2900"/>
              <a:buFont typeface="Arial"/>
              <a:buNone/>
            </a:pPr>
            <a:r>
              <a:rPr b="0" i="0" lang="es-MX" sz="2900" u="none" cap="none" strike="noStrike">
                <a:solidFill>
                  <a:srgbClr val="FFFFFF"/>
                </a:solidFill>
                <a:latin typeface="Arial"/>
                <a:ea typeface="Arial"/>
                <a:cs typeface="Arial"/>
                <a:sym typeface="Arial"/>
              </a:rPr>
              <a:t>Nacimientos en Chile entre 2020 y 2023</a:t>
            </a:r>
            <a:endParaRPr b="0" i="0" sz="2900" u="none" cap="none" strike="noStrike">
              <a:solidFill>
                <a:srgbClr val="FFFFFF"/>
              </a:solidFill>
              <a:latin typeface="Arial"/>
              <a:ea typeface="Arial"/>
              <a:cs typeface="Arial"/>
              <a:sym typeface="Arial"/>
            </a:endParaRPr>
          </a:p>
        </p:txBody>
      </p:sp>
      <p:pic>
        <p:nvPicPr>
          <p:cNvPr id="102" name="Google Shape;102;p1"/>
          <p:cNvPicPr preferRelativeResize="0"/>
          <p:nvPr/>
        </p:nvPicPr>
        <p:blipFill rotWithShape="1">
          <a:blip r:embed="rId4">
            <a:alphaModFix/>
          </a:blip>
          <a:srcRect b="0" l="0" r="0" t="0"/>
          <a:stretch/>
        </p:blipFill>
        <p:spPr>
          <a:xfrm>
            <a:off x="5504906" y="1086558"/>
            <a:ext cx="1727200" cy="1460500"/>
          </a:xfrm>
          <a:prstGeom prst="rect">
            <a:avLst/>
          </a:prstGeom>
          <a:noFill/>
          <a:ln>
            <a:noFill/>
          </a:ln>
        </p:spPr>
      </p:pic>
      <p:sp>
        <p:nvSpPr>
          <p:cNvPr id="103" name="Google Shape;103;p1"/>
          <p:cNvSpPr/>
          <p:nvPr/>
        </p:nvSpPr>
        <p:spPr>
          <a:xfrm>
            <a:off x="3218270" y="3677840"/>
            <a:ext cx="6000108" cy="45719"/>
          </a:xfrm>
          <a:prstGeom prst="rect">
            <a:avLst/>
          </a:prstGeom>
          <a:solidFill>
            <a:schemeClr val="lt1"/>
          </a:solidFill>
          <a:ln cap="flat" cmpd="sng" w="12700">
            <a:solidFill>
              <a:srgbClr val="0C4132"/>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4" name="Google Shape;104;p1"/>
          <p:cNvSpPr txBox="1"/>
          <p:nvPr/>
        </p:nvSpPr>
        <p:spPr>
          <a:xfrm>
            <a:off x="3485398" y="3818300"/>
            <a:ext cx="6613130" cy="1098395"/>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FFFFFF"/>
              </a:buClr>
              <a:buSzPts val="2000"/>
              <a:buFont typeface="Arial"/>
              <a:buNone/>
            </a:pPr>
            <a:r>
              <a:rPr b="0" i="0" lang="es-MX" sz="2000" u="none" cap="none" strike="noStrike">
                <a:solidFill>
                  <a:srgbClr val="FFFFFF"/>
                </a:solidFill>
                <a:latin typeface="Arial"/>
                <a:ea typeface="Arial"/>
                <a:cs typeface="Arial"/>
                <a:sym typeface="Arial"/>
              </a:rPr>
              <a:t>Proyecto final integrador · Fase 4 · Grupo 2</a:t>
            </a:r>
            <a:endParaRPr b="0" i="0" sz="2000" u="none" cap="none" strike="noStrike">
              <a:solidFill>
                <a:srgbClr val="FFFFFF"/>
              </a:solidFill>
              <a:latin typeface="Arial"/>
              <a:ea typeface="Arial"/>
              <a:cs typeface="Arial"/>
              <a:sym typeface="Arial"/>
            </a:endParaRPr>
          </a:p>
          <a:p>
            <a:pPr indent="0" lvl="0" marL="0" marR="0" rtl="0" algn="l">
              <a:lnSpc>
                <a:spcPct val="90000"/>
              </a:lnSpc>
              <a:spcBef>
                <a:spcPts val="0"/>
              </a:spcBef>
              <a:spcAft>
                <a:spcPts val="0"/>
              </a:spcAft>
              <a:buClr>
                <a:srgbClr val="FFFFFF"/>
              </a:buClr>
              <a:buSzPts val="2000"/>
              <a:buFont typeface="Arial"/>
              <a:buNone/>
            </a:pPr>
            <a:r>
              <a:t/>
            </a:r>
            <a:endParaRPr sz="2000">
              <a:solidFill>
                <a:srgbClr val="FFFFFF"/>
              </a:solidFill>
            </a:endParaRPr>
          </a:p>
          <a:p>
            <a:pPr indent="0" lvl="0" marL="0" marR="0" rtl="0" algn="l">
              <a:lnSpc>
                <a:spcPct val="90000"/>
              </a:lnSpc>
              <a:spcBef>
                <a:spcPts val="0"/>
              </a:spcBef>
              <a:spcAft>
                <a:spcPts val="0"/>
              </a:spcAft>
              <a:buClr>
                <a:srgbClr val="FFFFFF"/>
              </a:buClr>
              <a:buSzPts val="2000"/>
              <a:buFont typeface="Arial"/>
              <a:buNone/>
            </a:pPr>
            <a:r>
              <a:rPr lang="es-MX" sz="2000">
                <a:solidFill>
                  <a:srgbClr val="FFFFFF"/>
                </a:solidFill>
              </a:rPr>
              <a:t>Integrantes: Cristian Hurtado, Jorge Altamirano, Renzo Vilchez y Luis Paredes</a:t>
            </a:r>
            <a:endParaRPr sz="2000">
              <a:solidFill>
                <a:srgbClr val="FFFFFF"/>
              </a:solidFill>
            </a:endParaRPr>
          </a:p>
        </p:txBody>
      </p:sp>
      <p:sp>
        <p:nvSpPr>
          <p:cNvPr id="105" name="Google Shape;105;p1"/>
          <p:cNvSpPr txBox="1"/>
          <p:nvPr/>
        </p:nvSpPr>
        <p:spPr>
          <a:xfrm>
            <a:off x="5805270" y="6541035"/>
            <a:ext cx="1426836" cy="425644"/>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FFFFFF"/>
              </a:buClr>
              <a:buSzPts val="1200"/>
              <a:buFont typeface="Arial"/>
              <a:buNone/>
            </a:pPr>
            <a:r>
              <a:rPr b="0" i="0" lang="es-MX" sz="1200" u="none" cap="none" strike="noStrike">
                <a:solidFill>
                  <a:srgbClr val="FFFFFF"/>
                </a:solidFill>
                <a:latin typeface="Arial"/>
                <a:ea typeface="Arial"/>
                <a:cs typeface="Arial"/>
                <a:sym typeface="Arial"/>
              </a:rPr>
              <a:t>OCTUBRE 2026</a:t>
            </a:r>
            <a:endParaRPr b="0" i="0" sz="1200" u="none" cap="none" strike="noStrik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2"/>
          <p:cNvPicPr preferRelativeResize="0"/>
          <p:nvPr/>
        </p:nvPicPr>
        <p:blipFill rotWithShape="1">
          <a:blip r:embed="rId3">
            <a:alphaModFix/>
          </a:blip>
          <a:srcRect b="0" l="38369" r="7163" t="0"/>
          <a:stretch/>
        </p:blipFill>
        <p:spPr>
          <a:xfrm>
            <a:off x="6549030" y="-79378"/>
            <a:ext cx="5738628" cy="7016756"/>
          </a:xfrm>
          <a:prstGeom prst="rect">
            <a:avLst/>
          </a:prstGeom>
          <a:noFill/>
          <a:ln>
            <a:noFill/>
          </a:ln>
        </p:spPr>
      </p:pic>
      <p:grpSp>
        <p:nvGrpSpPr>
          <p:cNvPr id="112" name="Google Shape;112;p2"/>
          <p:cNvGrpSpPr/>
          <p:nvPr/>
        </p:nvGrpSpPr>
        <p:grpSpPr>
          <a:xfrm>
            <a:off x="302002" y="-206018"/>
            <a:ext cx="11544754" cy="6812558"/>
            <a:chOff x="302002" y="-206018"/>
            <a:chExt cx="11544754" cy="6812558"/>
          </a:xfrm>
        </p:grpSpPr>
        <p:sp>
          <p:nvSpPr>
            <p:cNvPr id="113" name="Google Shape;113;p2"/>
            <p:cNvSpPr/>
            <p:nvPr/>
          </p:nvSpPr>
          <p:spPr>
            <a:xfrm>
              <a:off x="302002" y="907609"/>
              <a:ext cx="11544754" cy="5698931"/>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114" name="Google Shape;114;p2"/>
            <p:cNvGrpSpPr/>
            <p:nvPr/>
          </p:nvGrpSpPr>
          <p:grpSpPr>
            <a:xfrm>
              <a:off x="10266948" y="-206018"/>
              <a:ext cx="1339576" cy="1716660"/>
              <a:chOff x="10266948" y="-206018"/>
              <a:chExt cx="1339576" cy="1716660"/>
            </a:xfrm>
          </p:grpSpPr>
          <p:sp>
            <p:nvSpPr>
              <p:cNvPr id="115" name="Google Shape;115;p2"/>
              <p:cNvSpPr txBox="1"/>
              <p:nvPr/>
            </p:nvSpPr>
            <p:spPr>
              <a:xfrm>
                <a:off x="10266948" y="-206018"/>
                <a:ext cx="1339576" cy="171666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116" name="Google Shape;116;p2"/>
              <p:cNvPicPr preferRelativeResize="0"/>
              <p:nvPr/>
            </p:nvPicPr>
            <p:blipFill rotWithShape="1">
              <a:blip r:embed="rId4">
                <a:alphaModFix/>
              </a:blip>
              <a:srcRect b="0" l="0" r="0" t="0"/>
              <a:stretch/>
            </p:blipFill>
            <p:spPr>
              <a:xfrm>
                <a:off x="10375523" y="394074"/>
                <a:ext cx="1151092" cy="973350"/>
              </a:xfrm>
              <a:prstGeom prst="rect">
                <a:avLst/>
              </a:prstGeom>
              <a:noFill/>
              <a:ln>
                <a:noFill/>
              </a:ln>
            </p:spPr>
          </p:pic>
        </p:grpSp>
      </p:grpSp>
      <p:sp>
        <p:nvSpPr>
          <p:cNvPr id="117" name="Google Shape;117;p2"/>
          <p:cNvSpPr txBox="1"/>
          <p:nvPr/>
        </p:nvSpPr>
        <p:spPr>
          <a:xfrm>
            <a:off x="722550" y="1432825"/>
            <a:ext cx="5457600" cy="4249500"/>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None/>
            </a:pPr>
            <a:r>
              <a:rPr lang="es-MX" sz="1700"/>
              <a:t>Los registros de nacidos vivos permiten describir diferencias territoriales y temporales relevantes para comprender la natalidad en Chile. </a:t>
            </a:r>
            <a:endParaRPr sz="1700"/>
          </a:p>
          <a:p>
            <a:pPr indent="0" lvl="0" marL="0" marR="0" rtl="0" algn="just">
              <a:spcBef>
                <a:spcPts val="0"/>
              </a:spcBef>
              <a:spcAft>
                <a:spcPts val="0"/>
              </a:spcAft>
              <a:buNone/>
            </a:pPr>
            <a:r>
              <a:t/>
            </a:r>
            <a:endParaRPr sz="1700"/>
          </a:p>
          <a:p>
            <a:pPr indent="0" lvl="0" marL="0" marR="0" rtl="0" algn="just">
              <a:spcBef>
                <a:spcPts val="0"/>
              </a:spcBef>
              <a:spcAft>
                <a:spcPts val="0"/>
              </a:spcAft>
              <a:buNone/>
            </a:pPr>
            <a:r>
              <a:rPr lang="es-MX" sz="1700"/>
              <a:t>Sin embargo, las cantidades absolutas no permiten comparar directamente regiones de distinto tamaño ni meses de distinta duración. </a:t>
            </a:r>
            <a:endParaRPr sz="1700"/>
          </a:p>
          <a:p>
            <a:pPr indent="0" lvl="0" marL="0" marR="0" rtl="0" algn="just">
              <a:spcBef>
                <a:spcPts val="0"/>
              </a:spcBef>
              <a:spcAft>
                <a:spcPts val="0"/>
              </a:spcAft>
              <a:buNone/>
            </a:pPr>
            <a:r>
              <a:t/>
            </a:r>
            <a:endParaRPr sz="1700"/>
          </a:p>
          <a:p>
            <a:pPr indent="0" lvl="0" marL="0" marR="0" rtl="0" algn="just">
              <a:spcBef>
                <a:spcPts val="0"/>
              </a:spcBef>
              <a:spcAft>
                <a:spcPts val="0"/>
              </a:spcAft>
              <a:buNone/>
            </a:pPr>
            <a:r>
              <a:rPr lang="es-MX" sz="1700"/>
              <a:t>Por ello, el proyecto analizará la proporción regional de nacimientos de madres menores de 20 años, el promedio diario de nacimientos por mes y la talla promedio al nacer por región.</a:t>
            </a:r>
            <a:endParaRPr b="0" i="0" sz="17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pic>
        <p:nvPicPr>
          <p:cNvPr id="123" name="Google Shape;123;h30d0de06c448fff3_0_0"/>
          <p:cNvPicPr preferRelativeResize="0"/>
          <p:nvPr/>
        </p:nvPicPr>
        <p:blipFill rotWithShape="1">
          <a:blip r:embed="rId3">
            <a:alphaModFix/>
          </a:blip>
          <a:srcRect b="0" l="38368" r="7163" t="0"/>
          <a:stretch/>
        </p:blipFill>
        <p:spPr>
          <a:xfrm>
            <a:off x="6549030" y="-79378"/>
            <a:ext cx="5738630" cy="7016755"/>
          </a:xfrm>
          <a:prstGeom prst="rect">
            <a:avLst/>
          </a:prstGeom>
          <a:noFill/>
          <a:ln>
            <a:noFill/>
          </a:ln>
        </p:spPr>
      </p:pic>
      <p:grpSp>
        <p:nvGrpSpPr>
          <p:cNvPr id="124" name="Google Shape;124;h30d0de06c448fff3_0_0"/>
          <p:cNvGrpSpPr/>
          <p:nvPr/>
        </p:nvGrpSpPr>
        <p:grpSpPr>
          <a:xfrm>
            <a:off x="302002" y="-206018"/>
            <a:ext cx="11544900" cy="6812427"/>
            <a:chOff x="302002" y="-206018"/>
            <a:chExt cx="11544900" cy="6812427"/>
          </a:xfrm>
        </p:grpSpPr>
        <p:sp>
          <p:nvSpPr>
            <p:cNvPr id="125" name="Google Shape;125;h30d0de06c448fff3_0_0"/>
            <p:cNvSpPr/>
            <p:nvPr/>
          </p:nvSpPr>
          <p:spPr>
            <a:xfrm>
              <a:off x="302002" y="907609"/>
              <a:ext cx="11544900" cy="5698800"/>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126" name="Google Shape;126;h30d0de06c448fff3_0_0"/>
            <p:cNvGrpSpPr/>
            <p:nvPr/>
          </p:nvGrpSpPr>
          <p:grpSpPr>
            <a:xfrm>
              <a:off x="10266948" y="-206018"/>
              <a:ext cx="1339500" cy="1716600"/>
              <a:chOff x="10266948" y="-206018"/>
              <a:chExt cx="1339500" cy="1716600"/>
            </a:xfrm>
          </p:grpSpPr>
          <p:sp>
            <p:nvSpPr>
              <p:cNvPr id="127" name="Google Shape;127;h30d0de06c448fff3_0_0"/>
              <p:cNvSpPr txBox="1"/>
              <p:nvPr/>
            </p:nvSpPr>
            <p:spPr>
              <a:xfrm>
                <a:off x="10266948" y="-206018"/>
                <a:ext cx="1339500" cy="17166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128" name="Google Shape;128;h30d0de06c448fff3_0_0"/>
              <p:cNvPicPr preferRelativeResize="0"/>
              <p:nvPr/>
            </p:nvPicPr>
            <p:blipFill rotWithShape="1">
              <a:blip r:embed="rId4">
                <a:alphaModFix/>
              </a:blip>
              <a:srcRect b="0" l="0" r="0" t="0"/>
              <a:stretch/>
            </p:blipFill>
            <p:spPr>
              <a:xfrm>
                <a:off x="10375523" y="394074"/>
                <a:ext cx="1151092" cy="973350"/>
              </a:xfrm>
              <a:prstGeom prst="rect">
                <a:avLst/>
              </a:prstGeom>
              <a:noFill/>
              <a:ln>
                <a:noFill/>
              </a:ln>
            </p:spPr>
          </p:pic>
        </p:grpSp>
      </p:grpSp>
      <p:sp>
        <p:nvSpPr>
          <p:cNvPr id="129" name="Google Shape;129;h30d0de06c448fff3_0_0"/>
          <p:cNvSpPr txBox="1"/>
          <p:nvPr/>
        </p:nvSpPr>
        <p:spPr>
          <a:xfrm>
            <a:off x="1070349" y="2177245"/>
            <a:ext cx="5109900" cy="2708400"/>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None/>
            </a:pPr>
            <a:r>
              <a:rPr b="0" i="0" lang="es-MX" sz="1700" u="none" cap="none" strike="noStrike">
                <a:solidFill>
                  <a:srgbClr val="000000"/>
                </a:solidFill>
                <a:latin typeface="Arial"/>
                <a:ea typeface="Arial"/>
                <a:cs typeface="Arial"/>
                <a:sym typeface="Arial"/>
              </a:rPr>
              <a:t>Del dato original al resultado</a:t>
            </a:r>
            <a:br>
              <a:rPr b="0" i="0" lang="es-MX" sz="1700" u="none" cap="none" strike="noStrike">
                <a:solidFill>
                  <a:srgbClr val="000000"/>
                </a:solidFill>
                <a:latin typeface="Arial"/>
                <a:ea typeface="Arial"/>
                <a:cs typeface="Arial"/>
                <a:sym typeface="Arial"/>
              </a:rPr>
            </a:br>
            <a:br>
              <a:rPr b="0" i="0" lang="es-MX" sz="1700" u="none" cap="none" strike="noStrike">
                <a:solidFill>
                  <a:srgbClr val="000000"/>
                </a:solidFill>
                <a:latin typeface="Arial"/>
                <a:ea typeface="Arial"/>
                <a:cs typeface="Arial"/>
                <a:sym typeface="Arial"/>
              </a:rPr>
            </a:br>
            <a:r>
              <a:rPr b="0" i="0" lang="es-MX" sz="1700" u="none" cap="none" strike="noStrike">
                <a:solidFill>
                  <a:srgbClr val="000000"/>
                </a:solidFill>
                <a:latin typeface="Arial"/>
                <a:ea typeface="Arial"/>
                <a:cs typeface="Arial"/>
                <a:sym typeface="Arial"/>
              </a:rPr>
              <a:t>F1 definió tres preguntas e indicadores.</a:t>
            </a:r>
            <a:br>
              <a:rPr b="0" i="0" lang="es-MX" sz="1700" u="none" cap="none" strike="noStrike">
                <a:solidFill>
                  <a:srgbClr val="000000"/>
                </a:solidFill>
                <a:latin typeface="Arial"/>
                <a:ea typeface="Arial"/>
                <a:cs typeface="Arial"/>
                <a:sym typeface="Arial"/>
              </a:rPr>
            </a:br>
            <a:br>
              <a:rPr b="0" i="0" lang="es-MX" sz="1700" u="none" cap="none" strike="noStrike">
                <a:solidFill>
                  <a:srgbClr val="000000"/>
                </a:solidFill>
                <a:latin typeface="Arial"/>
                <a:ea typeface="Arial"/>
                <a:cs typeface="Arial"/>
                <a:sym typeface="Arial"/>
              </a:rPr>
            </a:br>
            <a:r>
              <a:rPr b="0" i="0" lang="es-MX" sz="1700" u="none" cap="none" strike="noStrike">
                <a:solidFill>
                  <a:srgbClr val="000000"/>
                </a:solidFill>
                <a:latin typeface="Arial"/>
                <a:ea typeface="Arial"/>
                <a:cs typeface="Arial"/>
                <a:sym typeface="Arial"/>
              </a:rPr>
              <a:t>F2 preparó 735.611 registros y eligió la mediana regional para 597 tallas faltantes.</a:t>
            </a:r>
            <a:br>
              <a:rPr b="0" i="0" lang="es-MX" sz="1700" u="none" cap="none" strike="noStrike">
                <a:solidFill>
                  <a:srgbClr val="000000"/>
                </a:solidFill>
                <a:latin typeface="Arial"/>
                <a:ea typeface="Arial"/>
                <a:cs typeface="Arial"/>
                <a:sym typeface="Arial"/>
              </a:rPr>
            </a:br>
            <a:br>
              <a:rPr b="0" i="0" lang="es-MX" sz="1700" u="none" cap="none" strike="noStrike">
                <a:solidFill>
                  <a:srgbClr val="000000"/>
                </a:solidFill>
                <a:latin typeface="Arial"/>
                <a:ea typeface="Arial"/>
                <a:cs typeface="Arial"/>
                <a:sym typeface="Arial"/>
              </a:rPr>
            </a:br>
            <a:r>
              <a:rPr b="0" i="0" lang="es-MX" sz="1700" u="none" cap="none" strike="noStrike">
                <a:solidFill>
                  <a:srgbClr val="000000"/>
                </a:solidFill>
                <a:latin typeface="Arial"/>
                <a:ea typeface="Arial"/>
                <a:cs typeface="Arial"/>
                <a:sym typeface="Arial"/>
              </a:rPr>
              <a:t>F3 separó lectura, cálculo y medición.</a:t>
            </a:r>
            <a:br>
              <a:rPr b="0" i="0" lang="es-MX" sz="1700" u="none" cap="none" strike="noStrike">
                <a:solidFill>
                  <a:srgbClr val="000000"/>
                </a:solidFill>
                <a:latin typeface="Arial"/>
                <a:ea typeface="Arial"/>
                <a:cs typeface="Arial"/>
                <a:sym typeface="Arial"/>
              </a:rPr>
            </a:br>
            <a:br>
              <a:rPr b="0" i="0" lang="es-MX" sz="1700" u="none" cap="none" strike="noStrike">
                <a:solidFill>
                  <a:srgbClr val="000000"/>
                </a:solidFill>
                <a:latin typeface="Arial"/>
                <a:ea typeface="Arial"/>
                <a:cs typeface="Arial"/>
                <a:sym typeface="Arial"/>
              </a:rPr>
            </a:br>
            <a:r>
              <a:rPr b="0" i="0" lang="es-MX" sz="1700" u="none" cap="none" strike="noStrike">
                <a:solidFill>
                  <a:srgbClr val="000000"/>
                </a:solidFill>
                <a:latin typeface="Arial"/>
                <a:ea typeface="Arial"/>
                <a:cs typeface="Arial"/>
                <a:sym typeface="Arial"/>
              </a:rPr>
              <a:t>F4 presenta tablas, figuras y límites del análisis.</a:t>
            </a:r>
            <a:endParaRPr b="0" i="0" sz="17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pic>
        <p:nvPicPr>
          <p:cNvPr id="135" name="Google Shape;135;h30d0de06c448fff3_0_13"/>
          <p:cNvPicPr preferRelativeResize="0"/>
          <p:nvPr/>
        </p:nvPicPr>
        <p:blipFill rotWithShape="1">
          <a:blip r:embed="rId3">
            <a:alphaModFix/>
          </a:blip>
          <a:srcRect b="0" l="38368" r="7163" t="0"/>
          <a:stretch/>
        </p:blipFill>
        <p:spPr>
          <a:xfrm>
            <a:off x="6549030" y="-79378"/>
            <a:ext cx="5738630" cy="7016755"/>
          </a:xfrm>
          <a:prstGeom prst="rect">
            <a:avLst/>
          </a:prstGeom>
          <a:noFill/>
          <a:ln>
            <a:noFill/>
          </a:ln>
        </p:spPr>
      </p:pic>
      <p:grpSp>
        <p:nvGrpSpPr>
          <p:cNvPr id="136" name="Google Shape;136;h30d0de06c448fff3_0_13"/>
          <p:cNvGrpSpPr/>
          <p:nvPr/>
        </p:nvGrpSpPr>
        <p:grpSpPr>
          <a:xfrm>
            <a:off x="302002" y="-206018"/>
            <a:ext cx="11544900" cy="6812427"/>
            <a:chOff x="302002" y="-206018"/>
            <a:chExt cx="11544900" cy="6812427"/>
          </a:xfrm>
        </p:grpSpPr>
        <p:sp>
          <p:nvSpPr>
            <p:cNvPr id="137" name="Google Shape;137;h30d0de06c448fff3_0_13"/>
            <p:cNvSpPr/>
            <p:nvPr/>
          </p:nvSpPr>
          <p:spPr>
            <a:xfrm>
              <a:off x="302002" y="907609"/>
              <a:ext cx="11544900" cy="5698800"/>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138" name="Google Shape;138;h30d0de06c448fff3_0_13"/>
            <p:cNvGrpSpPr/>
            <p:nvPr/>
          </p:nvGrpSpPr>
          <p:grpSpPr>
            <a:xfrm>
              <a:off x="10266948" y="-206018"/>
              <a:ext cx="1339500" cy="1716600"/>
              <a:chOff x="10266948" y="-206018"/>
              <a:chExt cx="1339500" cy="1716600"/>
            </a:xfrm>
          </p:grpSpPr>
          <p:sp>
            <p:nvSpPr>
              <p:cNvPr id="139" name="Google Shape;139;h30d0de06c448fff3_0_13"/>
              <p:cNvSpPr txBox="1"/>
              <p:nvPr/>
            </p:nvSpPr>
            <p:spPr>
              <a:xfrm>
                <a:off x="10266948" y="-206018"/>
                <a:ext cx="1339500" cy="17166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140" name="Google Shape;140;h30d0de06c448fff3_0_13"/>
              <p:cNvPicPr preferRelativeResize="0"/>
              <p:nvPr/>
            </p:nvPicPr>
            <p:blipFill rotWithShape="1">
              <a:blip r:embed="rId4">
                <a:alphaModFix/>
              </a:blip>
              <a:srcRect b="0" l="0" r="0" t="0"/>
              <a:stretch/>
            </p:blipFill>
            <p:spPr>
              <a:xfrm>
                <a:off x="10375523" y="394074"/>
                <a:ext cx="1151092" cy="973350"/>
              </a:xfrm>
              <a:prstGeom prst="rect">
                <a:avLst/>
              </a:prstGeom>
              <a:noFill/>
              <a:ln>
                <a:noFill/>
              </a:ln>
            </p:spPr>
          </p:pic>
        </p:grpSp>
      </p:grpSp>
      <p:sp>
        <p:nvSpPr>
          <p:cNvPr id="141" name="Google Shape;141;h30d0de06c448fff3_0_13"/>
          <p:cNvSpPr txBox="1"/>
          <p:nvPr/>
        </p:nvSpPr>
        <p:spPr>
          <a:xfrm>
            <a:off x="502100" y="1200152"/>
            <a:ext cx="5678100" cy="3685500"/>
          </a:xfrm>
          <a:prstGeom prst="rect">
            <a:avLst/>
          </a:prstGeom>
          <a:noFill/>
          <a:ln>
            <a:noFill/>
          </a:ln>
        </p:spPr>
        <p:txBody>
          <a:bodyPr anchorCtr="0" anchor="t" bIns="45700" lIns="91425" spcFirstLastPara="1" rIns="91425" wrap="square" tIns="45700">
            <a:noAutofit/>
          </a:bodyPr>
          <a:lstStyle/>
          <a:p>
            <a:pPr indent="0" lvl="0" marL="0" marR="0" rtl="0" algn="just">
              <a:spcBef>
                <a:spcPts val="0"/>
              </a:spcBef>
              <a:spcAft>
                <a:spcPts val="0"/>
              </a:spcAft>
              <a:buNone/>
            </a:pPr>
            <a:r>
              <a:rPr lang="es-MX" sz="1700"/>
              <a:t>1. ¿Qué regiones de residencia materna presentan mayor y menor porcentaje de nacidos vivos de madres menores de 20 años durante 2020–2023?</a:t>
            </a:r>
            <a:endParaRPr sz="1700"/>
          </a:p>
          <a:p>
            <a:pPr indent="0" lvl="0" marL="0" marR="0" rtl="0" algn="just">
              <a:spcBef>
                <a:spcPts val="0"/>
              </a:spcBef>
              <a:spcAft>
                <a:spcPts val="0"/>
              </a:spcAft>
              <a:buNone/>
            </a:pPr>
            <a:r>
              <a:t/>
            </a:r>
            <a:endParaRPr sz="1700"/>
          </a:p>
          <a:p>
            <a:pPr indent="0" lvl="0" marL="0" marR="0" rtl="0" algn="just">
              <a:spcBef>
                <a:spcPts val="0"/>
              </a:spcBef>
              <a:spcAft>
                <a:spcPts val="0"/>
              </a:spcAft>
              <a:buNone/>
            </a:pPr>
            <a:r>
              <a:rPr lang="es-MX" sz="1700"/>
              <a:t>2. ¿Qué meses del calendario presentan mayor y menor promedio diario de nacimientos durante 2020–2023, considerando todas las edades maternas?</a:t>
            </a:r>
            <a:endParaRPr sz="1700"/>
          </a:p>
          <a:p>
            <a:pPr indent="0" lvl="0" marL="0" marR="0" rtl="0" algn="just">
              <a:spcBef>
                <a:spcPts val="0"/>
              </a:spcBef>
              <a:spcAft>
                <a:spcPts val="0"/>
              </a:spcAft>
              <a:buNone/>
            </a:pPr>
            <a:r>
              <a:t/>
            </a:r>
            <a:endParaRPr sz="1700"/>
          </a:p>
          <a:p>
            <a:pPr indent="0" lvl="0" marL="0" marR="0" rtl="0" algn="just">
              <a:spcBef>
                <a:spcPts val="0"/>
              </a:spcBef>
              <a:spcAft>
                <a:spcPts val="0"/>
              </a:spcAft>
              <a:buNone/>
            </a:pPr>
            <a:r>
              <a:rPr lang="es-MX" sz="1700"/>
              <a:t>3. ¿Qué regiones de residencia materna presentan mayor y menor talla promedio de los recién nacidos durante 2020–2023, considerando todas las edades maternas?</a:t>
            </a:r>
            <a:endParaRPr sz="17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grpSp>
        <p:nvGrpSpPr>
          <p:cNvPr id="147" name="Google Shape;147;h30d0de06c448fff3_0_31"/>
          <p:cNvGrpSpPr/>
          <p:nvPr/>
        </p:nvGrpSpPr>
        <p:grpSpPr>
          <a:xfrm>
            <a:off x="302002" y="-206018"/>
            <a:ext cx="11544900" cy="6812427"/>
            <a:chOff x="302002" y="-206018"/>
            <a:chExt cx="11544900" cy="6812427"/>
          </a:xfrm>
        </p:grpSpPr>
        <p:sp>
          <p:nvSpPr>
            <p:cNvPr id="148" name="Google Shape;148;h30d0de06c448fff3_0_31"/>
            <p:cNvSpPr/>
            <p:nvPr/>
          </p:nvSpPr>
          <p:spPr>
            <a:xfrm>
              <a:off x="302002" y="907609"/>
              <a:ext cx="11544900" cy="5698800"/>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149" name="Google Shape;149;h30d0de06c448fff3_0_31"/>
            <p:cNvGrpSpPr/>
            <p:nvPr/>
          </p:nvGrpSpPr>
          <p:grpSpPr>
            <a:xfrm>
              <a:off x="10266948" y="-206018"/>
              <a:ext cx="1339500" cy="1716600"/>
              <a:chOff x="10266948" y="-206018"/>
              <a:chExt cx="1339500" cy="1716600"/>
            </a:xfrm>
          </p:grpSpPr>
          <p:sp>
            <p:nvSpPr>
              <p:cNvPr id="150" name="Google Shape;150;h30d0de06c448fff3_0_31"/>
              <p:cNvSpPr txBox="1"/>
              <p:nvPr/>
            </p:nvSpPr>
            <p:spPr>
              <a:xfrm>
                <a:off x="10266948" y="-206018"/>
                <a:ext cx="1339500" cy="17166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151" name="Google Shape;151;h30d0de06c448fff3_0_31"/>
              <p:cNvPicPr preferRelativeResize="0"/>
              <p:nvPr/>
            </p:nvPicPr>
            <p:blipFill rotWithShape="1">
              <a:blip r:embed="rId3">
                <a:alphaModFix/>
              </a:blip>
              <a:srcRect b="0" l="0" r="0" t="0"/>
              <a:stretch/>
            </p:blipFill>
            <p:spPr>
              <a:xfrm>
                <a:off x="10375523" y="394074"/>
                <a:ext cx="1151092" cy="973350"/>
              </a:xfrm>
              <a:prstGeom prst="rect">
                <a:avLst/>
              </a:prstGeom>
              <a:noFill/>
              <a:ln>
                <a:noFill/>
              </a:ln>
            </p:spPr>
          </p:pic>
        </p:grpSp>
      </p:grpSp>
      <p:graphicFrame>
        <p:nvGraphicFramePr>
          <p:cNvPr id="152" name="Google Shape;152;h30d0de06c448fff3_0_31"/>
          <p:cNvGraphicFramePr/>
          <p:nvPr/>
        </p:nvGraphicFramePr>
        <p:xfrm>
          <a:off x="952500" y="1797525"/>
          <a:ext cx="3000000" cy="3000000"/>
        </p:xfrm>
        <a:graphic>
          <a:graphicData uri="http://schemas.openxmlformats.org/drawingml/2006/table">
            <a:tbl>
              <a:tblPr>
                <a:noFill/>
                <a:tableStyleId>{80804397-5554-4248-9CA0-9E1D8B1B4C75}</a:tableStyleId>
              </a:tblPr>
              <a:tblGrid>
                <a:gridCol w="3429000"/>
                <a:gridCol w="3429000"/>
                <a:gridCol w="3429000"/>
              </a:tblGrid>
              <a:tr h="787450">
                <a:tc>
                  <a:txBody>
                    <a:bodyPr/>
                    <a:lstStyle/>
                    <a:p>
                      <a:pPr indent="0" lvl="0" marL="0" rtl="0" algn="l">
                        <a:spcBef>
                          <a:spcPts val="0"/>
                        </a:spcBef>
                        <a:spcAft>
                          <a:spcPts val="0"/>
                        </a:spcAft>
                        <a:buNone/>
                      </a:pPr>
                      <a:r>
                        <a:rPr lang="es-MX"/>
                        <a:t>Pregunta</a:t>
                      </a:r>
                      <a:endParaRPr/>
                    </a:p>
                  </a:txBody>
                  <a:tcPr marT="91425" marB="91425" marR="91425" marL="91425"/>
                </a:tc>
                <a:tc>
                  <a:txBody>
                    <a:bodyPr/>
                    <a:lstStyle/>
                    <a:p>
                      <a:pPr indent="0" lvl="0" marL="0" rtl="0" algn="l">
                        <a:spcBef>
                          <a:spcPts val="0"/>
                        </a:spcBef>
                        <a:spcAft>
                          <a:spcPts val="0"/>
                        </a:spcAft>
                        <a:buNone/>
                      </a:pPr>
                      <a:r>
                        <a:rPr lang="es-MX"/>
                        <a:t>Denominador o medida</a:t>
                      </a:r>
                      <a:endParaRPr/>
                    </a:p>
                  </a:txBody>
                  <a:tcPr marT="91425" marB="91425" marR="91425" marL="91425"/>
                </a:tc>
                <a:tc>
                  <a:txBody>
                    <a:bodyPr/>
                    <a:lstStyle/>
                    <a:p>
                      <a:pPr indent="0" lvl="0" marL="0" rtl="0" algn="l">
                        <a:spcBef>
                          <a:spcPts val="0"/>
                        </a:spcBef>
                        <a:spcAft>
                          <a:spcPts val="0"/>
                        </a:spcAft>
                        <a:buNone/>
                      </a:pPr>
                      <a:r>
                        <a:rPr lang="es-MX"/>
                        <a:t>Denominador</a:t>
                      </a:r>
                      <a:r>
                        <a:rPr lang="es-MX"/>
                        <a:t> y alcance</a:t>
                      </a:r>
                      <a:endParaRPr/>
                    </a:p>
                  </a:txBody>
                  <a:tcPr marT="91425" marB="91425" marR="91425" marL="91425"/>
                </a:tc>
              </a:tr>
              <a:tr h="1211500">
                <a:tc>
                  <a:txBody>
                    <a:bodyPr/>
                    <a:lstStyle/>
                    <a:p>
                      <a:pPr indent="0" lvl="0" marL="0" rtl="0" algn="l">
                        <a:spcBef>
                          <a:spcPts val="0"/>
                        </a:spcBef>
                        <a:spcAft>
                          <a:spcPts val="0"/>
                        </a:spcAft>
                        <a:buNone/>
                      </a:pPr>
                      <a:r>
                        <a:rPr lang="es-MX"/>
                        <a:t>Maternidad adolescente</a:t>
                      </a:r>
                      <a:endParaRPr/>
                    </a:p>
                  </a:txBody>
                  <a:tcPr marT="91425" marB="91425" marR="91425" marL="91425"/>
                </a:tc>
                <a:tc>
                  <a:txBody>
                    <a:bodyPr/>
                    <a:lstStyle/>
                    <a:p>
                      <a:pPr indent="0" lvl="0" marL="0" rtl="0" algn="l">
                        <a:spcBef>
                          <a:spcPts val="0"/>
                        </a:spcBef>
                        <a:spcAft>
                          <a:spcPts val="0"/>
                        </a:spcAft>
                        <a:buNone/>
                      </a:pPr>
                      <a:r>
                        <a:rPr lang="es-MX"/>
                        <a:t>NV de los grupos “menores de 15 años” y “15 a 19 años”, multiplicados por 100</a:t>
                      </a:r>
                      <a:endParaRPr/>
                    </a:p>
                  </a:txBody>
                  <a:tcPr marT="91425" marB="91425" marR="91425" marL="91425"/>
                </a:tc>
                <a:tc>
                  <a:txBody>
                    <a:bodyPr/>
                    <a:lstStyle/>
                    <a:p>
                      <a:pPr indent="0" lvl="0" marL="0" rtl="0" algn="l">
                        <a:spcBef>
                          <a:spcPts val="0"/>
                        </a:spcBef>
                        <a:spcAft>
                          <a:spcPts val="0"/>
                        </a:spcAft>
                        <a:buNone/>
                      </a:pPr>
                      <a:r>
                        <a:rPr lang="es-MX"/>
                        <a:t>Todos los NV de la misma región durante 2020–2023</a:t>
                      </a:r>
                      <a:endParaRPr/>
                    </a:p>
                  </a:txBody>
                  <a:tcPr marT="91425" marB="91425" marR="91425" marL="91425"/>
                </a:tc>
              </a:tr>
              <a:tr h="787450">
                <a:tc>
                  <a:txBody>
                    <a:bodyPr/>
                    <a:lstStyle/>
                    <a:p>
                      <a:pPr indent="0" lvl="0" marL="0" rtl="0" algn="l">
                        <a:spcBef>
                          <a:spcPts val="0"/>
                        </a:spcBef>
                        <a:spcAft>
                          <a:spcPts val="0"/>
                        </a:spcAft>
                        <a:buNone/>
                      </a:pPr>
                      <a:r>
                        <a:rPr lang="es-MX"/>
                        <a:t>Promedio diario mensual</a:t>
                      </a:r>
                      <a:endParaRPr/>
                    </a:p>
                  </a:txBody>
                  <a:tcPr marT="91425" marB="91425" marR="91425" marL="91425"/>
                </a:tc>
                <a:tc>
                  <a:txBody>
                    <a:bodyPr/>
                    <a:lstStyle/>
                    <a:p>
                      <a:pPr indent="0" lvl="0" marL="0" rtl="0" algn="l">
                        <a:spcBef>
                          <a:spcPts val="0"/>
                        </a:spcBef>
                        <a:spcAft>
                          <a:spcPts val="0"/>
                        </a:spcAft>
                        <a:buNone/>
                      </a:pPr>
                      <a:r>
                        <a:rPr lang="es-MX"/>
                        <a:t>NV de cada mes calendario sumados en los cuatro años</a:t>
                      </a:r>
                      <a:endParaRPr/>
                    </a:p>
                  </a:txBody>
                  <a:tcPr marT="91425" marB="91425" marR="91425" marL="91425"/>
                </a:tc>
                <a:tc>
                  <a:txBody>
                    <a:bodyPr/>
                    <a:lstStyle/>
                    <a:p>
                      <a:pPr indent="0" lvl="0" marL="0" rtl="0" algn="l">
                        <a:spcBef>
                          <a:spcPts val="0"/>
                        </a:spcBef>
                        <a:spcAft>
                          <a:spcPts val="0"/>
                        </a:spcAft>
                        <a:buNone/>
                      </a:pPr>
                      <a:r>
                        <a:rPr lang="es-MX"/>
                        <a:t>Días de ese mes en los cuatro años: febrero 113, meses de 30 días 120 y meses de 31 días 124</a:t>
                      </a:r>
                      <a:endParaRPr/>
                    </a:p>
                  </a:txBody>
                  <a:tcPr marT="91425" marB="91425" marR="91425" marL="91425"/>
                </a:tc>
              </a:tr>
              <a:tr h="787450">
                <a:tc>
                  <a:txBody>
                    <a:bodyPr/>
                    <a:lstStyle/>
                    <a:p>
                      <a:pPr indent="0" lvl="0" marL="0" rtl="0" algn="l">
                        <a:spcBef>
                          <a:spcPts val="0"/>
                        </a:spcBef>
                        <a:spcAft>
                          <a:spcPts val="0"/>
                        </a:spcAft>
                        <a:buNone/>
                      </a:pPr>
                      <a:r>
                        <a:rPr lang="es-MX"/>
                        <a:t>Talla media regional</a:t>
                      </a:r>
                      <a:endParaRPr/>
                    </a:p>
                  </a:txBody>
                  <a:tcPr marT="91425" marB="91425" marR="91425" marL="91425"/>
                </a:tc>
                <a:tc>
                  <a:txBody>
                    <a:bodyPr/>
                    <a:lstStyle/>
                    <a:p>
                      <a:pPr indent="0" lvl="0" marL="0" rtl="0" algn="l">
                        <a:spcBef>
                          <a:spcPts val="0"/>
                        </a:spcBef>
                        <a:spcAft>
                          <a:spcPts val="0"/>
                        </a:spcAft>
                        <a:buNone/>
                      </a:pPr>
                      <a:r>
                        <a:rPr lang="es-MX"/>
                        <a:t>Suma de tallas válidas, en centímetros, de cada región</a:t>
                      </a:r>
                      <a:endParaRPr/>
                    </a:p>
                  </a:txBody>
                  <a:tcPr marT="91425" marB="91425" marR="91425" marL="91425"/>
                </a:tc>
                <a:tc>
                  <a:txBody>
                    <a:bodyPr/>
                    <a:lstStyle/>
                    <a:p>
                      <a:pPr indent="0" lvl="0" marL="0" rtl="0" algn="l">
                        <a:spcBef>
                          <a:spcPts val="0"/>
                        </a:spcBef>
                        <a:spcAft>
                          <a:spcPts val="0"/>
                        </a:spcAft>
                        <a:buNone/>
                      </a:pPr>
                      <a:r>
                        <a:rPr lang="es-MX"/>
                        <a:t>Número de tallas válidas de esa región; comparar con los escenarios de imputación en F2</a:t>
                      </a:r>
                      <a:endParaRPr/>
                    </a:p>
                  </a:txBody>
                  <a:tcPr marT="91425" marB="91425" marR="91425" marL="91425"/>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grpSp>
        <p:nvGrpSpPr>
          <p:cNvPr id="158" name="Google Shape;158;h30d0de06c448fff3_0_45"/>
          <p:cNvGrpSpPr/>
          <p:nvPr/>
        </p:nvGrpSpPr>
        <p:grpSpPr>
          <a:xfrm>
            <a:off x="302002" y="-206018"/>
            <a:ext cx="11544900" cy="6812427"/>
            <a:chOff x="302002" y="-206018"/>
            <a:chExt cx="11544900" cy="6812427"/>
          </a:xfrm>
        </p:grpSpPr>
        <p:sp>
          <p:nvSpPr>
            <p:cNvPr id="159" name="Google Shape;159;h30d0de06c448fff3_0_45"/>
            <p:cNvSpPr/>
            <p:nvPr/>
          </p:nvSpPr>
          <p:spPr>
            <a:xfrm>
              <a:off x="302002" y="907609"/>
              <a:ext cx="11544900" cy="5698800"/>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160" name="Google Shape;160;h30d0de06c448fff3_0_45"/>
            <p:cNvGrpSpPr/>
            <p:nvPr/>
          </p:nvGrpSpPr>
          <p:grpSpPr>
            <a:xfrm>
              <a:off x="10266948" y="-206018"/>
              <a:ext cx="1339500" cy="1716600"/>
              <a:chOff x="10266948" y="-206018"/>
              <a:chExt cx="1339500" cy="1716600"/>
            </a:xfrm>
          </p:grpSpPr>
          <p:sp>
            <p:nvSpPr>
              <p:cNvPr id="161" name="Google Shape;161;h30d0de06c448fff3_0_45"/>
              <p:cNvSpPr txBox="1"/>
              <p:nvPr/>
            </p:nvSpPr>
            <p:spPr>
              <a:xfrm>
                <a:off x="10266948" y="-206018"/>
                <a:ext cx="1339500" cy="17166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162" name="Google Shape;162;h30d0de06c448fff3_0_45"/>
              <p:cNvPicPr preferRelativeResize="0"/>
              <p:nvPr/>
            </p:nvPicPr>
            <p:blipFill rotWithShape="1">
              <a:blip r:embed="rId3">
                <a:alphaModFix/>
              </a:blip>
              <a:srcRect b="0" l="0" r="0" t="0"/>
              <a:stretch/>
            </p:blipFill>
            <p:spPr>
              <a:xfrm>
                <a:off x="10375523" y="394074"/>
                <a:ext cx="1151092" cy="973350"/>
              </a:xfrm>
              <a:prstGeom prst="rect">
                <a:avLst/>
              </a:prstGeom>
              <a:noFill/>
              <a:ln>
                <a:noFill/>
              </a:ln>
            </p:spPr>
          </p:pic>
        </p:grpSp>
      </p:grpSp>
      <p:pic>
        <p:nvPicPr>
          <p:cNvPr id="163" name="Google Shape;163;h30d0de06c448fff3_0_45" title="imagen_2026-10-04_195537706.png"/>
          <p:cNvPicPr preferRelativeResize="0"/>
          <p:nvPr/>
        </p:nvPicPr>
        <p:blipFill>
          <a:blip r:embed="rId4">
            <a:alphaModFix/>
          </a:blip>
          <a:stretch>
            <a:fillRect/>
          </a:stretch>
        </p:blipFill>
        <p:spPr>
          <a:xfrm>
            <a:off x="689188" y="1566200"/>
            <a:ext cx="9686925" cy="48768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grpSp>
        <p:nvGrpSpPr>
          <p:cNvPr id="169" name="Google Shape;169;h30d0de06c448fff3_0_56"/>
          <p:cNvGrpSpPr/>
          <p:nvPr/>
        </p:nvGrpSpPr>
        <p:grpSpPr>
          <a:xfrm>
            <a:off x="302002" y="-206018"/>
            <a:ext cx="11544900" cy="6812427"/>
            <a:chOff x="302002" y="-206018"/>
            <a:chExt cx="11544900" cy="6812427"/>
          </a:xfrm>
        </p:grpSpPr>
        <p:sp>
          <p:nvSpPr>
            <p:cNvPr id="170" name="Google Shape;170;h30d0de06c448fff3_0_56"/>
            <p:cNvSpPr/>
            <p:nvPr/>
          </p:nvSpPr>
          <p:spPr>
            <a:xfrm>
              <a:off x="302002" y="907609"/>
              <a:ext cx="11544900" cy="5698800"/>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171" name="Google Shape;171;h30d0de06c448fff3_0_56"/>
            <p:cNvGrpSpPr/>
            <p:nvPr/>
          </p:nvGrpSpPr>
          <p:grpSpPr>
            <a:xfrm>
              <a:off x="10266948" y="-206018"/>
              <a:ext cx="1339500" cy="1716600"/>
              <a:chOff x="10266948" y="-206018"/>
              <a:chExt cx="1339500" cy="1716600"/>
            </a:xfrm>
          </p:grpSpPr>
          <p:sp>
            <p:nvSpPr>
              <p:cNvPr id="172" name="Google Shape;172;h30d0de06c448fff3_0_56"/>
              <p:cNvSpPr txBox="1"/>
              <p:nvPr/>
            </p:nvSpPr>
            <p:spPr>
              <a:xfrm>
                <a:off x="10266948" y="-206018"/>
                <a:ext cx="1339500" cy="17166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173" name="Google Shape;173;h30d0de06c448fff3_0_56"/>
              <p:cNvPicPr preferRelativeResize="0"/>
              <p:nvPr/>
            </p:nvPicPr>
            <p:blipFill rotWithShape="1">
              <a:blip r:embed="rId3">
                <a:alphaModFix/>
              </a:blip>
              <a:srcRect b="0" l="0" r="0" t="0"/>
              <a:stretch/>
            </p:blipFill>
            <p:spPr>
              <a:xfrm>
                <a:off x="10375523" y="394074"/>
                <a:ext cx="1151092" cy="973350"/>
              </a:xfrm>
              <a:prstGeom prst="rect">
                <a:avLst/>
              </a:prstGeom>
              <a:noFill/>
              <a:ln>
                <a:noFill/>
              </a:ln>
            </p:spPr>
          </p:pic>
        </p:grpSp>
      </p:grpSp>
      <p:sp>
        <p:nvSpPr>
          <p:cNvPr id="174" name="Google Shape;174;h30d0de06c448fff3_0_56"/>
          <p:cNvSpPr txBox="1"/>
          <p:nvPr/>
        </p:nvSpPr>
        <p:spPr>
          <a:xfrm>
            <a:off x="869500" y="1298125"/>
            <a:ext cx="9221700" cy="3848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MX" sz="1700"/>
              <a:t>1. La definición de nacido vivo como unidad de observación permite delimitar correctamente el proyecto: sus indicadores no representan el número de madres distintas ni todos los embarazos adolescentes.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lang="es-MX" sz="1700"/>
              <a:t>2. El uso de denominadores regionales y días calendario hace que las comparaciones respondan a las preguntas planteadas, sin depender únicamente del tamaño regional o de la duración del mes.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lang="es-MX" sz="1700"/>
              <a:t>3. La presencia de faltantes de talla requiere comparar tratamientos y documentar su efecto; una proporción pequeña de nulos no determina por sí sola que deban imputarse o descartarse.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lang="es-MX" sz="1700"/>
              <a:t>4. La documentación de la fuente, las versiones y las rutas establece condiciones verificables para reproducir el proyecto. La reproducción por otro integrante todavía debe demostrarse.</a:t>
            </a:r>
            <a:endParaRPr sz="17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h30d0de06c448fff3_2_25"/>
          <p:cNvPicPr preferRelativeResize="0"/>
          <p:nvPr/>
        </p:nvPicPr>
        <p:blipFill rotWithShape="1">
          <a:blip r:embed="rId3">
            <a:alphaModFix/>
          </a:blip>
          <a:srcRect b="0" l="38368" r="7163" t="0"/>
          <a:stretch/>
        </p:blipFill>
        <p:spPr>
          <a:xfrm>
            <a:off x="6549030" y="-79378"/>
            <a:ext cx="5738630" cy="7016755"/>
          </a:xfrm>
          <a:prstGeom prst="rect">
            <a:avLst/>
          </a:prstGeom>
          <a:noFill/>
          <a:ln>
            <a:noFill/>
          </a:ln>
        </p:spPr>
      </p:pic>
      <p:grpSp>
        <p:nvGrpSpPr>
          <p:cNvPr id="181" name="Google Shape;181;h30d0de06c448fff3_2_25"/>
          <p:cNvGrpSpPr/>
          <p:nvPr/>
        </p:nvGrpSpPr>
        <p:grpSpPr>
          <a:xfrm>
            <a:off x="302002" y="-206018"/>
            <a:ext cx="11544900" cy="6812427"/>
            <a:chOff x="302002" y="-206018"/>
            <a:chExt cx="11544900" cy="6812427"/>
          </a:xfrm>
        </p:grpSpPr>
        <p:sp>
          <p:nvSpPr>
            <p:cNvPr id="182" name="Google Shape;182;h30d0de06c448fff3_2_25"/>
            <p:cNvSpPr/>
            <p:nvPr/>
          </p:nvSpPr>
          <p:spPr>
            <a:xfrm>
              <a:off x="302002" y="907609"/>
              <a:ext cx="11544900" cy="5698800"/>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183" name="Google Shape;183;h30d0de06c448fff3_2_25"/>
            <p:cNvGrpSpPr/>
            <p:nvPr/>
          </p:nvGrpSpPr>
          <p:grpSpPr>
            <a:xfrm>
              <a:off x="10266948" y="-206018"/>
              <a:ext cx="1339500" cy="1716600"/>
              <a:chOff x="10266948" y="-206018"/>
              <a:chExt cx="1339500" cy="1716600"/>
            </a:xfrm>
          </p:grpSpPr>
          <p:sp>
            <p:nvSpPr>
              <p:cNvPr id="184" name="Google Shape;184;h30d0de06c448fff3_2_25"/>
              <p:cNvSpPr txBox="1"/>
              <p:nvPr/>
            </p:nvSpPr>
            <p:spPr>
              <a:xfrm>
                <a:off x="10266948" y="-206018"/>
                <a:ext cx="1339500" cy="17166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185" name="Google Shape;185;h30d0de06c448fff3_2_25"/>
              <p:cNvPicPr preferRelativeResize="0"/>
              <p:nvPr/>
            </p:nvPicPr>
            <p:blipFill rotWithShape="1">
              <a:blip r:embed="rId4">
                <a:alphaModFix/>
              </a:blip>
              <a:srcRect b="0" l="0" r="0" t="0"/>
              <a:stretch/>
            </p:blipFill>
            <p:spPr>
              <a:xfrm>
                <a:off x="10375523" y="394074"/>
                <a:ext cx="1151092" cy="973350"/>
              </a:xfrm>
              <a:prstGeom prst="rect">
                <a:avLst/>
              </a:prstGeom>
              <a:noFill/>
              <a:ln>
                <a:noFill/>
              </a:ln>
            </p:spPr>
          </p:pic>
        </p:grpSp>
      </p:grpSp>
      <p:sp>
        <p:nvSpPr>
          <p:cNvPr id="186" name="Google Shape;186;h30d0de06c448fff3_2_25"/>
          <p:cNvSpPr txBox="1"/>
          <p:nvPr/>
        </p:nvSpPr>
        <p:spPr>
          <a:xfrm>
            <a:off x="502100" y="1200152"/>
            <a:ext cx="5678100" cy="36855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b="1" lang="es-MX" sz="1700">
                <a:solidFill>
                  <a:srgbClr val="002C6B"/>
                </a:solidFill>
              </a:rPr>
              <a:t>F2: Preparación y análisis preliminar de calidad</a:t>
            </a:r>
            <a:endParaRPr b="1" sz="1700">
              <a:solidFill>
                <a:srgbClr val="002C6B"/>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Clr>
                <a:schemeClr val="dk1"/>
              </a:buClr>
              <a:buSzPts val="1100"/>
              <a:buFont typeface="Arial"/>
              <a:buNone/>
            </a:pPr>
            <a:r>
              <a:rPr lang="es-MX" sz="1700">
                <a:solidFill>
                  <a:schemeClr val="dk1"/>
                </a:solidFill>
              </a:rPr>
              <a:t>El dataset proviene del portal Datos Abiertos del DEIS/MINSAL:</a:t>
            </a:r>
            <a:endParaRPr sz="1700">
              <a:solidFill>
                <a:schemeClr val="dk1"/>
              </a:solidFill>
            </a:endParaRPr>
          </a:p>
          <a:p>
            <a:pPr indent="0" lvl="0" marL="0" rtl="0" algn="l">
              <a:spcBef>
                <a:spcPts val="0"/>
              </a:spcBef>
              <a:spcAft>
                <a:spcPts val="0"/>
              </a:spcAft>
              <a:buSzPts val="1100"/>
              <a:buNone/>
            </a:pPr>
            <a:r>
              <a:rPr lang="es-MX" sz="1700" u="sng">
                <a:solidFill>
                  <a:schemeClr val="hlink"/>
                </a:solidFill>
                <a:hlinkClick r:id="rId5"/>
              </a:rPr>
              <a:t>https://deis.minsal.cl/#datosabiertos</a:t>
            </a:r>
            <a:endParaRPr sz="1700">
              <a:solidFill>
                <a:schemeClr val="dk1"/>
              </a:solidFill>
            </a:endParaRPr>
          </a:p>
          <a:p>
            <a:pPr indent="0" lvl="0" marL="0" rtl="0" algn="l">
              <a:spcBef>
                <a:spcPts val="0"/>
              </a:spcBef>
              <a:spcAft>
                <a:spcPts val="0"/>
              </a:spcAft>
              <a:buClr>
                <a:schemeClr val="dk1"/>
              </a:buClr>
              <a:buSzPts val="1100"/>
              <a:buFont typeface="Arial"/>
              <a:buNone/>
            </a:pPr>
            <a:r>
              <a:t/>
            </a:r>
            <a:endParaRPr sz="1700">
              <a:solidFill>
                <a:schemeClr val="dk1"/>
              </a:solidFill>
            </a:endParaRPr>
          </a:p>
          <a:p>
            <a:pPr indent="0" lvl="0" marL="0" rtl="0" algn="l">
              <a:spcBef>
                <a:spcPts val="0"/>
              </a:spcBef>
              <a:spcAft>
                <a:spcPts val="0"/>
              </a:spcAft>
              <a:buClr>
                <a:schemeClr val="dk1"/>
              </a:buClr>
              <a:buSzPts val="1100"/>
              <a:buFont typeface="Arial"/>
              <a:buNone/>
            </a:pPr>
            <a:r>
              <a:t/>
            </a:r>
            <a:endParaRPr sz="1700">
              <a:solidFill>
                <a:schemeClr val="dk1"/>
              </a:solidFill>
            </a:endParaRPr>
          </a:p>
          <a:p>
            <a:pPr indent="0" lvl="0" marL="0" rtl="0" algn="l">
              <a:spcBef>
                <a:spcPts val="0"/>
              </a:spcBef>
              <a:spcAft>
                <a:spcPts val="0"/>
              </a:spcAft>
              <a:buClr>
                <a:schemeClr val="dk1"/>
              </a:buClr>
              <a:buSzPts val="1100"/>
              <a:buFont typeface="Arial"/>
              <a:buNone/>
            </a:pPr>
            <a:r>
              <a:t/>
            </a:r>
            <a:endParaRPr sz="1700">
              <a:solidFill>
                <a:schemeClr val="dk1"/>
              </a:solidFill>
            </a:endParaRPr>
          </a:p>
          <a:p>
            <a:pPr indent="0" lvl="0" marL="0" rtl="0" algn="l">
              <a:spcBef>
                <a:spcPts val="0"/>
              </a:spcBef>
              <a:spcAft>
                <a:spcPts val="0"/>
              </a:spcAft>
              <a:buClr>
                <a:schemeClr val="dk1"/>
              </a:buClr>
              <a:buSzPts val="1100"/>
              <a:buFont typeface="Arial"/>
              <a:buNone/>
            </a:pPr>
            <a:r>
              <a:rPr lang="es-MX" sz="1700">
                <a:solidFill>
                  <a:schemeClr val="dk1"/>
                </a:solidFill>
              </a:rPr>
              <a:t>25 Columnas/variables</a:t>
            </a:r>
            <a:endParaRPr sz="1700">
              <a:solidFill>
                <a:schemeClr val="dk1"/>
              </a:solidFill>
            </a:endParaRPr>
          </a:p>
          <a:p>
            <a:pPr indent="0" lvl="0" marL="0" rtl="0" algn="l">
              <a:spcBef>
                <a:spcPts val="0"/>
              </a:spcBef>
              <a:spcAft>
                <a:spcPts val="0"/>
              </a:spcAft>
              <a:buSzPts val="1100"/>
              <a:buNone/>
            </a:pPr>
            <a:r>
              <a:rPr lang="es-MX" sz="1700">
                <a:solidFill>
                  <a:schemeClr val="dk1"/>
                </a:solidFill>
              </a:rPr>
              <a:t>735612 Filas/cabecera + nacidos(735611)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Clr>
                <a:schemeClr val="dk1"/>
              </a:buClr>
              <a:buSzPts val="1100"/>
              <a:buFont typeface="Arial"/>
              <a:buNone/>
            </a:pPr>
            <a:r>
              <a:t/>
            </a:r>
            <a:endParaRPr sz="17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grpSp>
        <p:nvGrpSpPr>
          <p:cNvPr id="192" name="Google Shape;192;h30d0de06c448fff3_2_49"/>
          <p:cNvGrpSpPr/>
          <p:nvPr/>
        </p:nvGrpSpPr>
        <p:grpSpPr>
          <a:xfrm>
            <a:off x="302002" y="-206018"/>
            <a:ext cx="11544900" cy="6812427"/>
            <a:chOff x="302002" y="-206018"/>
            <a:chExt cx="11544900" cy="6812427"/>
          </a:xfrm>
        </p:grpSpPr>
        <p:sp>
          <p:nvSpPr>
            <p:cNvPr id="193" name="Google Shape;193;h30d0de06c448fff3_2_49"/>
            <p:cNvSpPr/>
            <p:nvPr/>
          </p:nvSpPr>
          <p:spPr>
            <a:xfrm>
              <a:off x="302002" y="907609"/>
              <a:ext cx="11544900" cy="5698800"/>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194" name="Google Shape;194;h30d0de06c448fff3_2_49"/>
            <p:cNvGrpSpPr/>
            <p:nvPr/>
          </p:nvGrpSpPr>
          <p:grpSpPr>
            <a:xfrm>
              <a:off x="10266948" y="-206018"/>
              <a:ext cx="1339500" cy="1716600"/>
              <a:chOff x="10266948" y="-206018"/>
              <a:chExt cx="1339500" cy="1716600"/>
            </a:xfrm>
          </p:grpSpPr>
          <p:sp>
            <p:nvSpPr>
              <p:cNvPr id="195" name="Google Shape;195;h30d0de06c448fff3_2_49"/>
              <p:cNvSpPr txBox="1"/>
              <p:nvPr/>
            </p:nvSpPr>
            <p:spPr>
              <a:xfrm>
                <a:off x="10266948" y="-206018"/>
                <a:ext cx="1339500" cy="17166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196" name="Google Shape;196;h30d0de06c448fff3_2_49"/>
              <p:cNvPicPr preferRelativeResize="0"/>
              <p:nvPr/>
            </p:nvPicPr>
            <p:blipFill rotWithShape="1">
              <a:blip r:embed="rId3">
                <a:alphaModFix/>
              </a:blip>
              <a:srcRect b="0" l="0" r="0" t="0"/>
              <a:stretch/>
            </p:blipFill>
            <p:spPr>
              <a:xfrm>
                <a:off x="10375523" y="394074"/>
                <a:ext cx="1151092" cy="973350"/>
              </a:xfrm>
              <a:prstGeom prst="rect">
                <a:avLst/>
              </a:prstGeom>
              <a:noFill/>
              <a:ln>
                <a:noFill/>
              </a:ln>
            </p:spPr>
          </p:pic>
        </p:grpSp>
      </p:grpSp>
      <p:sp>
        <p:nvSpPr>
          <p:cNvPr id="197" name="Google Shape;197;h30d0de06c448fff3_2_49"/>
          <p:cNvSpPr txBox="1"/>
          <p:nvPr/>
        </p:nvSpPr>
        <p:spPr>
          <a:xfrm>
            <a:off x="502100" y="1200152"/>
            <a:ext cx="5678100" cy="36855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b="1" lang="es-MX" sz="1700">
                <a:solidFill>
                  <a:srgbClr val="002C6B"/>
                </a:solidFill>
              </a:rPr>
              <a:t>Campos Seleccionados</a:t>
            </a:r>
            <a:endParaRPr b="1" sz="1700">
              <a:solidFill>
                <a:srgbClr val="002C6B"/>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p:txBody>
      </p:sp>
      <p:pic>
        <p:nvPicPr>
          <p:cNvPr id="198" name="Google Shape;198;h30d0de06c448fff3_2_49"/>
          <p:cNvPicPr preferRelativeResize="0"/>
          <p:nvPr/>
        </p:nvPicPr>
        <p:blipFill>
          <a:blip r:embed="rId4">
            <a:alphaModFix/>
          </a:blip>
          <a:stretch>
            <a:fillRect/>
          </a:stretch>
        </p:blipFill>
        <p:spPr>
          <a:xfrm>
            <a:off x="502100" y="1638075"/>
            <a:ext cx="11344799" cy="376629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pic>
        <p:nvPicPr>
          <p:cNvPr id="204" name="Google Shape;204;h30d0de06c448fff3_2_37"/>
          <p:cNvPicPr preferRelativeResize="0"/>
          <p:nvPr/>
        </p:nvPicPr>
        <p:blipFill rotWithShape="1">
          <a:blip r:embed="rId3">
            <a:alphaModFix/>
          </a:blip>
          <a:srcRect b="0" l="38368" r="7163" t="0"/>
          <a:stretch/>
        </p:blipFill>
        <p:spPr>
          <a:xfrm>
            <a:off x="6549030" y="-79378"/>
            <a:ext cx="5738630" cy="7016755"/>
          </a:xfrm>
          <a:prstGeom prst="rect">
            <a:avLst/>
          </a:prstGeom>
          <a:noFill/>
          <a:ln>
            <a:noFill/>
          </a:ln>
        </p:spPr>
      </p:pic>
      <p:grpSp>
        <p:nvGrpSpPr>
          <p:cNvPr id="205" name="Google Shape;205;h30d0de06c448fff3_2_37"/>
          <p:cNvGrpSpPr/>
          <p:nvPr/>
        </p:nvGrpSpPr>
        <p:grpSpPr>
          <a:xfrm>
            <a:off x="302002" y="-206018"/>
            <a:ext cx="11544900" cy="6812427"/>
            <a:chOff x="302002" y="-206018"/>
            <a:chExt cx="11544900" cy="6812427"/>
          </a:xfrm>
        </p:grpSpPr>
        <p:sp>
          <p:nvSpPr>
            <p:cNvPr id="206" name="Google Shape;206;h30d0de06c448fff3_2_37"/>
            <p:cNvSpPr/>
            <p:nvPr/>
          </p:nvSpPr>
          <p:spPr>
            <a:xfrm>
              <a:off x="302002" y="907609"/>
              <a:ext cx="11544900" cy="5698800"/>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mbria"/>
                <a:ea typeface="Cambria"/>
                <a:cs typeface="Cambria"/>
                <a:sym typeface="Cambria"/>
              </a:endParaRPr>
            </a:p>
          </p:txBody>
        </p:sp>
        <p:grpSp>
          <p:nvGrpSpPr>
            <p:cNvPr id="207" name="Google Shape;207;h30d0de06c448fff3_2_37"/>
            <p:cNvGrpSpPr/>
            <p:nvPr/>
          </p:nvGrpSpPr>
          <p:grpSpPr>
            <a:xfrm>
              <a:off x="10266948" y="-206018"/>
              <a:ext cx="1339500" cy="1716600"/>
              <a:chOff x="10266948" y="-206018"/>
              <a:chExt cx="1339500" cy="1716600"/>
            </a:xfrm>
          </p:grpSpPr>
          <p:sp>
            <p:nvSpPr>
              <p:cNvPr id="208" name="Google Shape;208;h30d0de06c448fff3_2_37"/>
              <p:cNvSpPr txBox="1"/>
              <p:nvPr/>
            </p:nvSpPr>
            <p:spPr>
              <a:xfrm>
                <a:off x="10266948" y="-206018"/>
                <a:ext cx="1339500" cy="17166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b="0" i="0" lang="es-MX" sz="2800" u="none" cap="none" strike="noStrike">
                    <a:solidFill>
                      <a:srgbClr val="FFFFFF"/>
                    </a:solidFill>
                    <a:latin typeface="Calibri"/>
                    <a:ea typeface="Calibri"/>
                    <a:cs typeface="Calibri"/>
                    <a:sym typeface="Calibri"/>
                  </a:rPr>
                  <a:t>  </a:t>
                </a:r>
                <a:endParaRPr b="0" i="0" sz="2800" u="none" cap="none" strike="noStrike">
                  <a:solidFill>
                    <a:srgbClr val="FFFFFF"/>
                  </a:solidFill>
                  <a:latin typeface="Calibri"/>
                  <a:ea typeface="Calibri"/>
                  <a:cs typeface="Calibri"/>
                  <a:sym typeface="Calibri"/>
                </a:endParaRPr>
              </a:p>
            </p:txBody>
          </p:sp>
          <p:pic>
            <p:nvPicPr>
              <p:cNvPr id="209" name="Google Shape;209;h30d0de06c448fff3_2_37"/>
              <p:cNvPicPr preferRelativeResize="0"/>
              <p:nvPr/>
            </p:nvPicPr>
            <p:blipFill rotWithShape="1">
              <a:blip r:embed="rId4">
                <a:alphaModFix/>
              </a:blip>
              <a:srcRect b="0" l="0" r="0" t="0"/>
              <a:stretch/>
            </p:blipFill>
            <p:spPr>
              <a:xfrm>
                <a:off x="10375523" y="394074"/>
                <a:ext cx="1151092" cy="973350"/>
              </a:xfrm>
              <a:prstGeom prst="rect">
                <a:avLst/>
              </a:prstGeom>
              <a:noFill/>
              <a:ln>
                <a:noFill/>
              </a:ln>
            </p:spPr>
          </p:pic>
        </p:grpSp>
      </p:grpSp>
      <p:sp>
        <p:nvSpPr>
          <p:cNvPr id="210" name="Google Shape;210;h30d0de06c448fff3_2_37"/>
          <p:cNvSpPr txBox="1"/>
          <p:nvPr/>
        </p:nvSpPr>
        <p:spPr>
          <a:xfrm>
            <a:off x="502100" y="1200149"/>
            <a:ext cx="5678100" cy="50742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s-MX" sz="1700">
                <a:solidFill>
                  <a:schemeClr val="dk1"/>
                </a:solidFill>
              </a:rPr>
              <a:t>Registros Nulos</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SzPts val="1100"/>
              <a:buNone/>
            </a:pPr>
            <a:r>
              <a:rPr lang="es-MX" sz="1700">
                <a:solidFill>
                  <a:schemeClr val="dk1"/>
                </a:solidFill>
              </a:rPr>
              <a:t>1. TALLA contiene 597 registros nulos (0.0812 %), donde se uso mediana regional para sustituir estos valores</a:t>
            </a:r>
            <a:endParaRPr sz="1700">
              <a:solidFill>
                <a:schemeClr val="dk1"/>
              </a:solidFill>
            </a:endParaRPr>
          </a:p>
          <a:p>
            <a:pPr indent="0" lvl="0" marL="0" rtl="0" algn="l">
              <a:spcBef>
                <a:spcPts val="0"/>
              </a:spcBef>
              <a:spcAft>
                <a:spcPts val="0"/>
              </a:spcAft>
              <a:buSzPts val="1100"/>
              <a:buNone/>
            </a:pPr>
            <a:r>
              <a:t/>
            </a:r>
            <a:endParaRPr sz="1700">
              <a:solidFill>
                <a:schemeClr val="dk1"/>
              </a:solidFill>
            </a:endParaRPr>
          </a:p>
          <a:p>
            <a:pPr indent="0" lvl="0" marL="0" rtl="0" algn="l">
              <a:spcBef>
                <a:spcPts val="0"/>
              </a:spcBef>
              <a:spcAft>
                <a:spcPts val="0"/>
              </a:spcAft>
              <a:buClr>
                <a:schemeClr val="dk1"/>
              </a:buClr>
              <a:buSzPts val="1100"/>
              <a:buFont typeface="Arial"/>
              <a:buNone/>
            </a:pPr>
            <a:r>
              <a:t/>
            </a:r>
            <a:endParaRPr sz="1700">
              <a:solidFill>
                <a:schemeClr val="dk1"/>
              </a:solidFill>
            </a:endParaRPr>
          </a:p>
          <a:p>
            <a:pPr indent="0" lvl="0" marL="0" rtl="0" algn="l">
              <a:spcBef>
                <a:spcPts val="0"/>
              </a:spcBef>
              <a:spcAft>
                <a:spcPts val="0"/>
              </a:spcAft>
              <a:buSzPts val="1100"/>
              <a:buNone/>
            </a:pPr>
            <a:r>
              <a:rPr lang="es-MX" sz="1700">
                <a:solidFill>
                  <a:schemeClr val="dk1"/>
                </a:solidFill>
              </a:rPr>
              <a:t>.2. Mayor porcentaje regional: De Aisén del Gral. C. Ibáñez del Campo, 0.3951 % (16 registros de 4050).</a:t>
            </a:r>
            <a:endParaRPr sz="1700">
              <a:solidFill>
                <a:schemeClr val="dk1"/>
              </a:solidFill>
            </a:endParaRPr>
          </a:p>
          <a:p>
            <a:pPr indent="0" lvl="0" marL="0" rtl="0" algn="l">
              <a:spcBef>
                <a:spcPts val="0"/>
              </a:spcBef>
              <a:spcAft>
                <a:spcPts val="0"/>
              </a:spcAft>
              <a:buSzPts val="1100"/>
              <a:buNone/>
            </a:pPr>
            <a:r>
              <a:rPr lang="es-MX" sz="1700">
                <a:solidFill>
                  <a:schemeClr val="dk1"/>
                </a:solidFill>
              </a:rPr>
              <a:t>   </a:t>
            </a:r>
            <a:endParaRPr sz="1700">
              <a:solidFill>
                <a:schemeClr val="dk1"/>
              </a:solidFill>
            </a:endParaRPr>
          </a:p>
          <a:p>
            <a:pPr indent="0" lvl="0" marL="0" rtl="0" algn="l">
              <a:spcBef>
                <a:spcPts val="0"/>
              </a:spcBef>
              <a:spcAft>
                <a:spcPts val="0"/>
              </a:spcAft>
              <a:buSzPts val="1100"/>
              <a:buNone/>
            </a:pPr>
            <a:r>
              <a:rPr lang="es-MX" sz="1700">
                <a:solidFill>
                  <a:schemeClr val="dk1"/>
                </a:solidFill>
              </a:rPr>
              <a:t>3. Menor porcentaje regional: De Arica y Parinacota, 0.0450 % (5 registros de 11107).</a:t>
            </a:r>
            <a:endParaRPr sz="1700">
              <a:solidFill>
                <a:schemeClr val="dk1"/>
              </a:solidFill>
            </a:endParaRPr>
          </a:p>
          <a:p>
            <a:pPr indent="0" lvl="0" marL="0" rtl="0" algn="l">
              <a:spcBef>
                <a:spcPts val="0"/>
              </a:spcBef>
              <a:spcAft>
                <a:spcPts val="0"/>
              </a:spcAft>
              <a:buClr>
                <a:schemeClr val="dk1"/>
              </a:buClr>
              <a:buSzPts val="1100"/>
              <a:buFont typeface="Arial"/>
              <a:buNone/>
            </a:pPr>
            <a:r>
              <a:t/>
            </a:r>
            <a:endParaRPr sz="1700">
              <a:solidFill>
                <a:schemeClr val="dk1"/>
              </a:solidFill>
            </a:endParaRPr>
          </a:p>
          <a:p>
            <a:pPr indent="0" lvl="0" marL="0" rtl="0" algn="l">
              <a:spcBef>
                <a:spcPts val="0"/>
              </a:spcBef>
              <a:spcAft>
                <a:spcPts val="0"/>
              </a:spcAft>
              <a:buSzPts val="1100"/>
              <a:buNone/>
            </a:pPr>
            <a:r>
              <a:t/>
            </a:r>
            <a:endParaRPr sz="1100">
              <a:solidFill>
                <a:schemeClr val="dk1"/>
              </a:solidFill>
            </a:endParaRPr>
          </a:p>
          <a:p>
            <a:pPr indent="0" lvl="0" marL="0" rtl="0" algn="l">
              <a:spcBef>
                <a:spcPts val="0"/>
              </a:spcBef>
              <a:spcAft>
                <a:spcPts val="0"/>
              </a:spcAft>
              <a:buSzPts val="1100"/>
              <a:buNone/>
            </a:pPr>
            <a:r>
              <a:t/>
            </a:r>
            <a:endParaRPr sz="1100">
              <a:solidFill>
                <a:schemeClr val="dk1"/>
              </a:solidFill>
            </a:endParaRPr>
          </a:p>
          <a:p>
            <a:pPr indent="0" lvl="0" marL="0" rtl="0" algn="l">
              <a:spcBef>
                <a:spcPts val="0"/>
              </a:spcBef>
              <a:spcAft>
                <a:spcPts val="0"/>
              </a:spcAft>
              <a:buClr>
                <a:schemeClr val="dk1"/>
              </a:buClr>
              <a:buSzPts val="1100"/>
              <a:buFont typeface="Arial"/>
              <a:buNone/>
            </a:pPr>
            <a:r>
              <a:t/>
            </a:r>
            <a:endParaRPr sz="17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pic>
        <p:nvPicPr>
          <p:cNvPr id="216" name="Google Shape;216;h25565c23ec57d54e_0_2"/>
          <p:cNvPicPr preferRelativeResize="0"/>
          <p:nvPr/>
        </p:nvPicPr>
        <p:blipFill>
          <a:blip r:embed="rId3">
            <a:alphaModFix/>
          </a:blip>
          <a:stretch>
            <a:fillRect/>
          </a:stretch>
        </p:blipFill>
        <p:spPr>
          <a:xfrm>
            <a:off x="0" y="0"/>
            <a:ext cx="12192000" cy="6858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pic>
        <p:nvPicPr>
          <p:cNvPr id="222" name="Google Shape;222;h25565c23ec57d54e_0_13"/>
          <p:cNvPicPr preferRelativeResize="0"/>
          <p:nvPr/>
        </p:nvPicPr>
        <p:blipFill>
          <a:blip r:embed="rId3">
            <a:alphaModFix/>
          </a:blip>
          <a:stretch>
            <a:fillRect/>
          </a:stretch>
        </p:blipFill>
        <p:spPr>
          <a:xfrm>
            <a:off x="0" y="0"/>
            <a:ext cx="12192000" cy="68580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pic>
        <p:nvPicPr>
          <p:cNvPr id="228" name="Google Shape;228;h25565c23ec57d54e_0_17"/>
          <p:cNvPicPr preferRelativeResize="0"/>
          <p:nvPr/>
        </p:nvPicPr>
        <p:blipFill>
          <a:blip r:embed="rId3">
            <a:alphaModFix/>
          </a:blip>
          <a:stretch>
            <a:fillRect/>
          </a:stretch>
        </p:blipFill>
        <p:spPr>
          <a:xfrm>
            <a:off x="-237075" y="-66680"/>
            <a:ext cx="12429076" cy="699136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pic>
        <p:nvPicPr>
          <p:cNvPr id="234" name="Google Shape;234;h25565c23ec57d54e_0_21"/>
          <p:cNvPicPr preferRelativeResize="0"/>
          <p:nvPr/>
        </p:nvPicPr>
        <p:blipFill>
          <a:blip r:embed="rId3">
            <a:alphaModFix/>
          </a:blip>
          <a:stretch>
            <a:fillRect/>
          </a:stretch>
        </p:blipFill>
        <p:spPr>
          <a:xfrm>
            <a:off x="-118538" y="-2"/>
            <a:ext cx="12192000" cy="685800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39" name="Shape 239"/>
        <p:cNvGrpSpPr/>
        <p:nvPr/>
      </p:nvGrpSpPr>
      <p:grpSpPr>
        <a:xfrm>
          <a:off x="0" y="0"/>
          <a:ext cx="0" cy="0"/>
          <a:chOff x="0" y="0"/>
          <a:chExt cx="0" cy="0"/>
        </a:xfrm>
      </p:grpSpPr>
      <p:sp>
        <p:nvSpPr>
          <p:cNvPr id="240" name="Google Shape;240;p6"/>
          <p:cNvSpPr/>
          <p:nvPr/>
        </p:nvSpPr>
        <p:spPr>
          <a:xfrm rot="-5400000">
            <a:off x="3418037" y="3835882"/>
            <a:ext cx="4490448" cy="45719"/>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41" name="Google Shape;241;p6"/>
          <p:cNvGrpSpPr/>
          <p:nvPr/>
        </p:nvGrpSpPr>
        <p:grpSpPr>
          <a:xfrm>
            <a:off x="302002" y="-206018"/>
            <a:ext cx="11544754" cy="6812558"/>
            <a:chOff x="302002" y="-206018"/>
            <a:chExt cx="11544754" cy="6812558"/>
          </a:xfrm>
        </p:grpSpPr>
        <p:sp>
          <p:nvSpPr>
            <p:cNvPr id="242" name="Google Shape;242;p6"/>
            <p:cNvSpPr/>
            <p:nvPr/>
          </p:nvSpPr>
          <p:spPr>
            <a:xfrm>
              <a:off x="302002" y="907609"/>
              <a:ext cx="11544754" cy="5698931"/>
            </a:xfrm>
            <a:prstGeom prst="rect">
              <a:avLst/>
            </a:prstGeom>
            <a:noFill/>
            <a:ln cap="flat" cmpd="sng" w="12700">
              <a:solidFill>
                <a:srgbClr val="BFBFB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mbria"/>
                <a:ea typeface="Cambria"/>
                <a:cs typeface="Cambria"/>
                <a:sym typeface="Cambria"/>
              </a:endParaRPr>
            </a:p>
          </p:txBody>
        </p:sp>
        <p:grpSp>
          <p:nvGrpSpPr>
            <p:cNvPr id="243" name="Google Shape;243;p6"/>
            <p:cNvGrpSpPr/>
            <p:nvPr/>
          </p:nvGrpSpPr>
          <p:grpSpPr>
            <a:xfrm>
              <a:off x="10266948" y="-206018"/>
              <a:ext cx="1339576" cy="1716660"/>
              <a:chOff x="10266948" y="-206018"/>
              <a:chExt cx="1339576" cy="1716660"/>
            </a:xfrm>
          </p:grpSpPr>
          <p:sp>
            <p:nvSpPr>
              <p:cNvPr id="244" name="Google Shape;244;p6"/>
              <p:cNvSpPr txBox="1"/>
              <p:nvPr/>
            </p:nvSpPr>
            <p:spPr>
              <a:xfrm>
                <a:off x="10266948" y="-206018"/>
                <a:ext cx="1339576" cy="171666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rgbClr val="FFFFFF"/>
                  </a:buClr>
                  <a:buSzPts val="2800"/>
                  <a:buFont typeface="Calibri"/>
                  <a:buNone/>
                </a:pPr>
                <a:r>
                  <a:rPr lang="es-MX" sz="2800">
                    <a:solidFill>
                      <a:srgbClr val="FFFFFF"/>
                    </a:solidFill>
                    <a:latin typeface="Calibri"/>
                    <a:ea typeface="Calibri"/>
                    <a:cs typeface="Calibri"/>
                    <a:sym typeface="Calibri"/>
                  </a:rPr>
                  <a:t>  </a:t>
                </a:r>
                <a:endParaRPr sz="2800">
                  <a:solidFill>
                    <a:srgbClr val="FFFFFF"/>
                  </a:solidFill>
                  <a:latin typeface="Calibri"/>
                  <a:ea typeface="Calibri"/>
                  <a:cs typeface="Calibri"/>
                  <a:sym typeface="Calibri"/>
                </a:endParaRPr>
              </a:p>
            </p:txBody>
          </p:sp>
          <p:pic>
            <p:nvPicPr>
              <p:cNvPr id="245" name="Google Shape;245;p6"/>
              <p:cNvPicPr preferRelativeResize="0"/>
              <p:nvPr/>
            </p:nvPicPr>
            <p:blipFill rotWithShape="1">
              <a:blip r:embed="rId3">
                <a:alphaModFix/>
              </a:blip>
              <a:srcRect b="0" l="0" r="0" t="0"/>
              <a:stretch/>
            </p:blipFill>
            <p:spPr>
              <a:xfrm>
                <a:off x="10375523" y="394074"/>
                <a:ext cx="1151092" cy="973350"/>
              </a:xfrm>
              <a:prstGeom prst="rect">
                <a:avLst/>
              </a:prstGeom>
              <a:noFill/>
              <a:ln>
                <a:noFill/>
              </a:ln>
            </p:spPr>
          </p:pic>
        </p:grpSp>
      </p:grpSp>
      <p:sp>
        <p:nvSpPr>
          <p:cNvPr id="246" name="Google Shape;246;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t/>
            </a:r>
            <a:endParaRPr/>
          </a:p>
        </p:txBody>
      </p:sp>
      <p:sp>
        <p:nvSpPr>
          <p:cNvPr id="247" name="Google Shape;247;p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
        <p:nvSpPr>
          <p:cNvPr id="248" name="Google Shape;248;p6"/>
          <p:cNvSpPr txBox="1"/>
          <p:nvPr/>
        </p:nvSpPr>
        <p:spPr>
          <a:xfrm>
            <a:off x="1981200" y="2679700"/>
            <a:ext cx="3365500" cy="95410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s-MX" sz="2800">
                <a:solidFill>
                  <a:srgbClr val="002C6B"/>
                </a:solidFill>
                <a:latin typeface="Arial"/>
                <a:ea typeface="Arial"/>
                <a:cs typeface="Arial"/>
                <a:sym typeface="Arial"/>
              </a:rPr>
              <a:t>EFICIENCIA</a:t>
            </a:r>
            <a:br>
              <a:rPr lang="es-MX" sz="2800">
                <a:solidFill>
                  <a:srgbClr val="002C6B"/>
                </a:solidFill>
                <a:latin typeface="Arial"/>
                <a:ea typeface="Arial"/>
                <a:cs typeface="Arial"/>
                <a:sym typeface="Arial"/>
              </a:rPr>
            </a:br>
            <a:r>
              <a:rPr lang="es-MX" sz="2800">
                <a:solidFill>
                  <a:srgbClr val="002C6B"/>
                </a:solidFill>
                <a:latin typeface="Arial"/>
                <a:ea typeface="Arial"/>
                <a:cs typeface="Arial"/>
                <a:sym typeface="Arial"/>
              </a:rPr>
              <a:t>Y CONTROLES</a:t>
            </a:r>
            <a:endParaRPr/>
          </a:p>
        </p:txBody>
      </p:sp>
      <p:sp>
        <p:nvSpPr>
          <p:cNvPr id="249" name="Google Shape;249;p6"/>
          <p:cNvSpPr txBox="1"/>
          <p:nvPr/>
        </p:nvSpPr>
        <p:spPr>
          <a:xfrm>
            <a:off x="6108700" y="1676400"/>
            <a:ext cx="5080000" cy="301621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s-MX" sz="1900">
                <a:solidFill>
                  <a:srgbClr val="002C6B"/>
                </a:solidFill>
                <a:latin typeface="Arial"/>
                <a:ea typeface="Arial"/>
                <a:cs typeface="Arial"/>
                <a:sym typeface="Arial"/>
              </a:rPr>
              <a:t>Indicador regional</a:t>
            </a:r>
            <a:br>
              <a:rPr lang="es-MX" sz="1900">
                <a:solidFill>
                  <a:srgbClr val="002C6B"/>
                </a:solidFill>
                <a:latin typeface="Arial"/>
                <a:ea typeface="Arial"/>
                <a:cs typeface="Arial"/>
                <a:sym typeface="Arial"/>
              </a:rPr>
            </a:br>
            <a:r>
              <a:rPr lang="es-MX" sz="1900">
                <a:solidFill>
                  <a:srgbClr val="002C6B"/>
                </a:solidFill>
                <a:latin typeface="Arial"/>
                <a:ea typeface="Arial"/>
                <a:cs typeface="Arial"/>
                <a:sym typeface="Arial"/>
              </a:rPr>
              <a:t>Bucle: 0,1423 s</a:t>
            </a:r>
            <a:br>
              <a:rPr lang="es-MX" sz="1900">
                <a:solidFill>
                  <a:srgbClr val="002C6B"/>
                </a:solidFill>
                <a:latin typeface="Arial"/>
                <a:ea typeface="Arial"/>
                <a:cs typeface="Arial"/>
                <a:sym typeface="Arial"/>
              </a:rPr>
            </a:br>
            <a:r>
              <a:rPr lang="es-MX" sz="1900">
                <a:solidFill>
                  <a:srgbClr val="002C6B"/>
                </a:solidFill>
                <a:latin typeface="Arial"/>
                <a:ea typeface="Arial"/>
                <a:cs typeface="Arial"/>
                <a:sym typeface="Arial"/>
              </a:rPr>
              <a:t>groupby: 0,0090 s</a:t>
            </a:r>
            <a:br>
              <a:rPr lang="es-MX" sz="1900">
                <a:solidFill>
                  <a:srgbClr val="002C6B"/>
                </a:solidFill>
                <a:latin typeface="Arial"/>
                <a:ea typeface="Arial"/>
                <a:cs typeface="Arial"/>
                <a:sym typeface="Arial"/>
              </a:rPr>
            </a:br>
            <a:br>
              <a:rPr lang="es-MX" sz="1900">
                <a:solidFill>
                  <a:srgbClr val="002C6B"/>
                </a:solidFill>
                <a:latin typeface="Arial"/>
                <a:ea typeface="Arial"/>
                <a:cs typeface="Arial"/>
                <a:sym typeface="Arial"/>
              </a:rPr>
            </a:br>
            <a:r>
              <a:rPr lang="es-MX" sz="1900">
                <a:solidFill>
                  <a:srgbClr val="002C6B"/>
                </a:solidFill>
                <a:latin typeface="Arial"/>
                <a:ea typeface="Arial"/>
                <a:cs typeface="Arial"/>
                <a:sym typeface="Arial"/>
              </a:rPr>
              <a:t>Lectura del CSV</a:t>
            </a:r>
            <a:br>
              <a:rPr lang="es-MX" sz="1900">
                <a:solidFill>
                  <a:srgbClr val="002C6B"/>
                </a:solidFill>
                <a:latin typeface="Arial"/>
                <a:ea typeface="Arial"/>
                <a:cs typeface="Arial"/>
                <a:sym typeface="Arial"/>
              </a:rPr>
            </a:br>
            <a:r>
              <a:rPr lang="es-MX" sz="1900">
                <a:solidFill>
                  <a:srgbClr val="002C6B"/>
                </a:solidFill>
                <a:latin typeface="Arial"/>
                <a:ea typeface="Arial"/>
                <a:cs typeface="Arial"/>
                <a:sym typeface="Arial"/>
              </a:rPr>
              <a:t>25 columnas: 408,08 MB</a:t>
            </a:r>
            <a:br>
              <a:rPr lang="es-MX" sz="1900">
                <a:solidFill>
                  <a:srgbClr val="002C6B"/>
                </a:solidFill>
                <a:latin typeface="Arial"/>
                <a:ea typeface="Arial"/>
                <a:cs typeface="Arial"/>
                <a:sym typeface="Arial"/>
              </a:rPr>
            </a:br>
            <a:r>
              <a:rPr lang="es-MX" sz="1900">
                <a:solidFill>
                  <a:srgbClr val="002C6B"/>
                </a:solidFill>
                <a:latin typeface="Arial"/>
                <a:ea typeface="Arial"/>
                <a:cs typeface="Arial"/>
                <a:sym typeface="Arial"/>
              </a:rPr>
              <a:t>6 columnas: 127,30 MB</a:t>
            </a:r>
            <a:br>
              <a:rPr lang="es-MX" sz="1900">
                <a:solidFill>
                  <a:srgbClr val="002C6B"/>
                </a:solidFill>
                <a:latin typeface="Arial"/>
                <a:ea typeface="Arial"/>
                <a:cs typeface="Arial"/>
                <a:sym typeface="Arial"/>
              </a:rPr>
            </a:br>
            <a:br>
              <a:rPr lang="es-MX" sz="1900">
                <a:solidFill>
                  <a:srgbClr val="002C6B"/>
                </a:solidFill>
                <a:latin typeface="Arial"/>
                <a:ea typeface="Arial"/>
                <a:cs typeface="Arial"/>
                <a:sym typeface="Arial"/>
              </a:rPr>
            </a:br>
            <a:r>
              <a:rPr lang="es-MX" sz="1900">
                <a:solidFill>
                  <a:srgbClr val="002C6B"/>
                </a:solidFill>
                <a:latin typeface="Arial"/>
                <a:ea typeface="Arial"/>
                <a:cs typeface="Arial"/>
                <a:sym typeface="Arial"/>
              </a:rPr>
              <a:t>Verificamos resultados equivalentes antes de medir.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h30d0de06c448fff3_1_0"/>
          <p:cNvSpPr txBox="1"/>
          <p:nvPr>
            <p:ph type="ctrTitle"/>
          </p:nvPr>
        </p:nvSpPr>
        <p:spPr>
          <a:xfrm>
            <a:off x="1524000" y="1122363"/>
            <a:ext cx="9144000" cy="2387700"/>
          </a:xfrm>
          <a:prstGeom prst="rect">
            <a:avLst/>
          </a:prstGeom>
        </p:spPr>
        <p:txBody>
          <a:bodyPr anchorCtr="0" anchor="b" bIns="45700" lIns="91425" spcFirstLastPara="1" rIns="91425" wrap="square" tIns="45700">
            <a:normAutofit/>
          </a:bodyPr>
          <a:lstStyle/>
          <a:p>
            <a:pPr indent="0" lvl="0" marL="0" rtl="0" algn="ctr">
              <a:spcBef>
                <a:spcPts val="0"/>
              </a:spcBef>
              <a:spcAft>
                <a:spcPts val="0"/>
              </a:spcAft>
              <a:buNone/>
            </a:pPr>
            <a:r>
              <a:t/>
            </a:r>
            <a:endParaRPr/>
          </a:p>
        </p:txBody>
      </p:sp>
      <p:sp>
        <p:nvSpPr>
          <p:cNvPr id="256" name="Google Shape;256;h30d0de06c448fff3_1_0"/>
          <p:cNvSpPr txBox="1"/>
          <p:nvPr>
            <p:ph idx="1" type="subTitle"/>
          </p:nvPr>
        </p:nvSpPr>
        <p:spPr>
          <a:xfrm>
            <a:off x="1524000" y="3602038"/>
            <a:ext cx="9144000" cy="1655700"/>
          </a:xfrm>
          <a:prstGeom prst="rect">
            <a:avLst/>
          </a:prstGeom>
        </p:spPr>
        <p:txBody>
          <a:bodyPr anchorCtr="0" anchor="t" bIns="45700" lIns="91425" spcFirstLastPara="1" rIns="91425" wrap="square" tIns="45700">
            <a:normAutofit/>
          </a:bodyPr>
          <a:lstStyle/>
          <a:p>
            <a:pPr indent="0" lvl="0" marL="0" rtl="0" algn="ctr">
              <a:spcBef>
                <a:spcPts val="1000"/>
              </a:spcBef>
              <a:spcAft>
                <a:spcPts val="0"/>
              </a:spcAft>
              <a:buNone/>
            </a:pPr>
            <a:r>
              <a:t/>
            </a:r>
            <a:endParaRPr/>
          </a:p>
        </p:txBody>
      </p:sp>
      <p:pic>
        <p:nvPicPr>
          <p:cNvPr id="257" name="Google Shape;257;h30d0de06c448fff3_1_0"/>
          <p:cNvPicPr preferRelativeResize="0"/>
          <p:nvPr/>
        </p:nvPicPr>
        <p:blipFill>
          <a:blip r:embed="rId3">
            <a:alphaModFix/>
          </a:blip>
          <a:stretch>
            <a:fillRect/>
          </a:stretch>
        </p:blipFill>
        <p:spPr>
          <a:xfrm>
            <a:off x="0" y="0"/>
            <a:ext cx="12192000" cy="68580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h30d0de06c448fff3_1_7"/>
          <p:cNvSpPr txBox="1"/>
          <p:nvPr>
            <p:ph type="ctrTitle"/>
          </p:nvPr>
        </p:nvSpPr>
        <p:spPr>
          <a:xfrm>
            <a:off x="1524000" y="1122363"/>
            <a:ext cx="9144000" cy="2387700"/>
          </a:xfrm>
          <a:prstGeom prst="rect">
            <a:avLst/>
          </a:prstGeom>
        </p:spPr>
        <p:txBody>
          <a:bodyPr anchorCtr="0" anchor="b" bIns="45700" lIns="91425" spcFirstLastPara="1" rIns="91425" wrap="square" tIns="45700">
            <a:normAutofit/>
          </a:bodyPr>
          <a:lstStyle/>
          <a:p>
            <a:pPr indent="0" lvl="0" marL="0" rtl="0" algn="ctr">
              <a:spcBef>
                <a:spcPts val="0"/>
              </a:spcBef>
              <a:spcAft>
                <a:spcPts val="0"/>
              </a:spcAft>
              <a:buNone/>
            </a:pPr>
            <a:r>
              <a:t/>
            </a:r>
            <a:endParaRPr/>
          </a:p>
        </p:txBody>
      </p:sp>
      <p:sp>
        <p:nvSpPr>
          <p:cNvPr id="264" name="Google Shape;264;h30d0de06c448fff3_1_7"/>
          <p:cNvSpPr txBox="1"/>
          <p:nvPr>
            <p:ph idx="1" type="subTitle"/>
          </p:nvPr>
        </p:nvSpPr>
        <p:spPr>
          <a:xfrm>
            <a:off x="1524000" y="3602038"/>
            <a:ext cx="9144000" cy="1655700"/>
          </a:xfrm>
          <a:prstGeom prst="rect">
            <a:avLst/>
          </a:prstGeom>
        </p:spPr>
        <p:txBody>
          <a:bodyPr anchorCtr="0" anchor="t" bIns="45700" lIns="91425" spcFirstLastPara="1" rIns="91425" wrap="square" tIns="45700">
            <a:normAutofit/>
          </a:bodyPr>
          <a:lstStyle/>
          <a:p>
            <a:pPr indent="0" lvl="0" marL="0" rtl="0" algn="ctr">
              <a:spcBef>
                <a:spcPts val="1000"/>
              </a:spcBef>
              <a:spcAft>
                <a:spcPts val="0"/>
              </a:spcAft>
              <a:buNone/>
            </a:pPr>
            <a:r>
              <a:t/>
            </a:r>
            <a:endParaRPr/>
          </a:p>
        </p:txBody>
      </p:sp>
      <p:pic>
        <p:nvPicPr>
          <p:cNvPr id="265" name="Google Shape;265;h30d0de06c448fff3_1_7"/>
          <p:cNvPicPr preferRelativeResize="0"/>
          <p:nvPr/>
        </p:nvPicPr>
        <p:blipFill>
          <a:blip r:embed="rId3">
            <a:alphaModFix/>
          </a:blip>
          <a:stretch>
            <a:fillRect/>
          </a:stretch>
        </p:blipFill>
        <p:spPr>
          <a:xfrm>
            <a:off x="0" y="0"/>
            <a:ext cx="12192000" cy="68580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h30d0de06c448fff3_1_14"/>
          <p:cNvSpPr txBox="1"/>
          <p:nvPr>
            <p:ph type="ctrTitle"/>
          </p:nvPr>
        </p:nvSpPr>
        <p:spPr>
          <a:xfrm>
            <a:off x="1524000" y="1122363"/>
            <a:ext cx="9144000" cy="2387700"/>
          </a:xfrm>
          <a:prstGeom prst="rect">
            <a:avLst/>
          </a:prstGeom>
        </p:spPr>
        <p:txBody>
          <a:bodyPr anchorCtr="0" anchor="b" bIns="45700" lIns="91425" spcFirstLastPara="1" rIns="91425" wrap="square" tIns="45700">
            <a:normAutofit/>
          </a:bodyPr>
          <a:lstStyle/>
          <a:p>
            <a:pPr indent="0" lvl="0" marL="0" rtl="0" algn="ctr">
              <a:spcBef>
                <a:spcPts val="0"/>
              </a:spcBef>
              <a:spcAft>
                <a:spcPts val="0"/>
              </a:spcAft>
              <a:buNone/>
            </a:pPr>
            <a:r>
              <a:t/>
            </a:r>
            <a:endParaRPr/>
          </a:p>
        </p:txBody>
      </p:sp>
      <p:sp>
        <p:nvSpPr>
          <p:cNvPr id="272" name="Google Shape;272;h30d0de06c448fff3_1_14"/>
          <p:cNvSpPr txBox="1"/>
          <p:nvPr>
            <p:ph idx="1" type="subTitle"/>
          </p:nvPr>
        </p:nvSpPr>
        <p:spPr>
          <a:xfrm>
            <a:off x="1524000" y="3602038"/>
            <a:ext cx="9144000" cy="1655700"/>
          </a:xfrm>
          <a:prstGeom prst="rect">
            <a:avLst/>
          </a:prstGeom>
        </p:spPr>
        <p:txBody>
          <a:bodyPr anchorCtr="0" anchor="t" bIns="45700" lIns="91425" spcFirstLastPara="1" rIns="91425" wrap="square" tIns="45700">
            <a:normAutofit/>
          </a:bodyPr>
          <a:lstStyle/>
          <a:p>
            <a:pPr indent="0" lvl="0" marL="0" rtl="0" algn="ctr">
              <a:spcBef>
                <a:spcPts val="1000"/>
              </a:spcBef>
              <a:spcAft>
                <a:spcPts val="0"/>
              </a:spcAft>
              <a:buNone/>
            </a:pPr>
            <a:r>
              <a:t/>
            </a:r>
            <a:endParaRPr/>
          </a:p>
        </p:txBody>
      </p:sp>
      <p:pic>
        <p:nvPicPr>
          <p:cNvPr id="273" name="Google Shape;273;h30d0de06c448fff3_1_14"/>
          <p:cNvPicPr preferRelativeResize="0"/>
          <p:nvPr/>
        </p:nvPicPr>
        <p:blipFill>
          <a:blip r:embed="rId3">
            <a:alphaModFix/>
          </a:blip>
          <a:stretch>
            <a:fillRect/>
          </a:stretch>
        </p:blipFill>
        <p:spPr>
          <a:xfrm>
            <a:off x="0" y="0"/>
            <a:ext cx="12192000" cy="68580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h30d0de06c448fff3_1_21"/>
          <p:cNvSpPr txBox="1"/>
          <p:nvPr>
            <p:ph type="ctrTitle"/>
          </p:nvPr>
        </p:nvSpPr>
        <p:spPr>
          <a:xfrm>
            <a:off x="1524000" y="1122363"/>
            <a:ext cx="9144000" cy="2387700"/>
          </a:xfrm>
          <a:prstGeom prst="rect">
            <a:avLst/>
          </a:prstGeom>
        </p:spPr>
        <p:txBody>
          <a:bodyPr anchorCtr="0" anchor="b" bIns="45700" lIns="91425" spcFirstLastPara="1" rIns="91425" wrap="square" tIns="45700">
            <a:normAutofit/>
          </a:bodyPr>
          <a:lstStyle/>
          <a:p>
            <a:pPr indent="0" lvl="0" marL="0" rtl="0" algn="ctr">
              <a:spcBef>
                <a:spcPts val="0"/>
              </a:spcBef>
              <a:spcAft>
                <a:spcPts val="0"/>
              </a:spcAft>
              <a:buNone/>
            </a:pPr>
            <a:r>
              <a:t/>
            </a:r>
            <a:endParaRPr/>
          </a:p>
        </p:txBody>
      </p:sp>
      <p:sp>
        <p:nvSpPr>
          <p:cNvPr id="280" name="Google Shape;280;h30d0de06c448fff3_1_21"/>
          <p:cNvSpPr txBox="1"/>
          <p:nvPr>
            <p:ph idx="1" type="subTitle"/>
          </p:nvPr>
        </p:nvSpPr>
        <p:spPr>
          <a:xfrm>
            <a:off x="1524000" y="3602038"/>
            <a:ext cx="9144000" cy="1655700"/>
          </a:xfrm>
          <a:prstGeom prst="rect">
            <a:avLst/>
          </a:prstGeom>
        </p:spPr>
        <p:txBody>
          <a:bodyPr anchorCtr="0" anchor="t" bIns="45700" lIns="91425" spcFirstLastPara="1" rIns="91425" wrap="square" tIns="45700">
            <a:normAutofit/>
          </a:bodyPr>
          <a:lstStyle/>
          <a:p>
            <a:pPr indent="0" lvl="0" marL="0" rtl="0" algn="ctr">
              <a:spcBef>
                <a:spcPts val="1000"/>
              </a:spcBef>
              <a:spcAft>
                <a:spcPts val="0"/>
              </a:spcAft>
              <a:buNone/>
            </a:pPr>
            <a:r>
              <a:t/>
            </a:r>
            <a:endParaRPr/>
          </a:p>
        </p:txBody>
      </p:sp>
      <p:pic>
        <p:nvPicPr>
          <p:cNvPr id="281" name="Google Shape;281;h30d0de06c448fff3_1_21"/>
          <p:cNvPicPr preferRelativeResize="0"/>
          <p:nvPr/>
        </p:nvPicPr>
        <p:blipFill>
          <a:blip r:embed="rId3">
            <a:alphaModFix/>
          </a:blip>
          <a:stretch>
            <a:fillRect/>
          </a:stretch>
        </p:blipFill>
        <p:spPr>
          <a:xfrm>
            <a:off x="0" y="0"/>
            <a:ext cx="12192000" cy="68580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86" name="Shape 286"/>
        <p:cNvGrpSpPr/>
        <p:nvPr/>
      </p:nvGrpSpPr>
      <p:grpSpPr>
        <a:xfrm>
          <a:off x="0" y="0"/>
          <a:ext cx="0" cy="0"/>
          <a:chOff x="0" y="0"/>
          <a:chExt cx="0" cy="0"/>
        </a:xfrm>
      </p:grpSpPr>
      <p:pic>
        <p:nvPicPr>
          <p:cNvPr id="287" name="Google Shape;287;p7"/>
          <p:cNvPicPr preferRelativeResize="0"/>
          <p:nvPr/>
        </p:nvPicPr>
        <p:blipFill rotWithShape="1">
          <a:blip r:embed="rId4">
            <a:alphaModFix/>
          </a:blip>
          <a:srcRect b="0" l="0" r="0" t="0"/>
          <a:stretch/>
        </p:blipFill>
        <p:spPr>
          <a:xfrm>
            <a:off x="5232400" y="2606876"/>
            <a:ext cx="1727200" cy="1460500"/>
          </a:xfrm>
          <a:prstGeom prst="rect">
            <a:avLst/>
          </a:prstGeom>
          <a:noFill/>
          <a:ln>
            <a:noFill/>
          </a:ln>
        </p:spPr>
      </p:pic>
      <p:sp>
        <p:nvSpPr>
          <p:cNvPr id="288" name="Google Shape;288;p7"/>
          <p:cNvSpPr txBox="1"/>
          <p:nvPr/>
        </p:nvSpPr>
        <p:spPr>
          <a:xfrm>
            <a:off x="2476500" y="571500"/>
            <a:ext cx="7620000" cy="56938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s-MX" sz="3100">
                <a:solidFill>
                  <a:srgbClr val="FFFFFF"/>
                </a:solidFill>
                <a:latin typeface="Arial"/>
                <a:ea typeface="Arial"/>
                <a:cs typeface="Arial"/>
                <a:sym typeface="Arial"/>
              </a:rPr>
              <a:t>CONCLUSIONES Y LÍMITES</a:t>
            </a:r>
            <a:endParaRPr/>
          </a:p>
        </p:txBody>
      </p:sp>
      <p:sp>
        <p:nvSpPr>
          <p:cNvPr id="289" name="Google Shape;289;p7"/>
          <p:cNvSpPr txBox="1"/>
          <p:nvPr/>
        </p:nvSpPr>
        <p:spPr>
          <a:xfrm>
            <a:off x="2032000" y="4406900"/>
            <a:ext cx="8318500" cy="16619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s-MX" sz="1700">
                <a:solidFill>
                  <a:srgbClr val="FFFFFF"/>
                </a:solidFill>
                <a:latin typeface="Arial"/>
                <a:ea typeface="Arial"/>
                <a:cs typeface="Arial"/>
                <a:sym typeface="Arial"/>
              </a:rPr>
              <a:t>Respondimos las tres preguntas originales.</a:t>
            </a:r>
            <a:br>
              <a:rPr lang="es-MX" sz="1700">
                <a:solidFill>
                  <a:srgbClr val="FFFFFF"/>
                </a:solidFill>
                <a:latin typeface="Arial"/>
                <a:ea typeface="Arial"/>
                <a:cs typeface="Arial"/>
                <a:sym typeface="Arial"/>
              </a:rPr>
            </a:br>
            <a:br>
              <a:rPr lang="es-MX" sz="1700">
                <a:solidFill>
                  <a:srgbClr val="FFFFFF"/>
                </a:solidFill>
                <a:latin typeface="Arial"/>
                <a:ea typeface="Arial"/>
                <a:cs typeface="Arial"/>
                <a:sym typeface="Arial"/>
              </a:rPr>
            </a:br>
            <a:r>
              <a:rPr lang="es-MX" sz="1700">
                <a:solidFill>
                  <a:srgbClr val="FFFFFF"/>
                </a:solidFill>
              </a:rPr>
              <a:t>Los contrastes estadísticos detectaron diferencias entre regiones, mientras que los promedios diarios mostraron variación entre meses.</a:t>
            </a:r>
            <a:br>
              <a:rPr lang="es-MX" sz="1700">
                <a:solidFill>
                  <a:srgbClr val="FFFFFF"/>
                </a:solidFill>
                <a:latin typeface="Arial"/>
                <a:ea typeface="Arial"/>
                <a:cs typeface="Arial"/>
                <a:sym typeface="Arial"/>
              </a:rPr>
            </a:br>
            <a:br>
              <a:rPr lang="es-MX" sz="1700">
                <a:solidFill>
                  <a:srgbClr val="FFFFFF"/>
                </a:solidFill>
                <a:latin typeface="Arial"/>
                <a:ea typeface="Arial"/>
                <a:cs typeface="Arial"/>
                <a:sym typeface="Arial"/>
              </a:rPr>
            </a:br>
            <a:r>
              <a:rPr lang="es-MX" sz="1700">
                <a:solidFill>
                  <a:srgbClr val="FFFFFF"/>
                </a:solidFill>
                <a:latin typeface="Arial"/>
                <a:ea typeface="Arial"/>
                <a:cs typeface="Arial"/>
                <a:sym typeface="Arial"/>
              </a:rPr>
              <a:t>La serie 2020–2023 describe patrones, pero no permite identificar sus causas.</a:t>
            </a:r>
            <a:endParaRPr sz="1700">
              <a:solidFill>
                <a:srgbClr val="FFFFF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Tema de 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Tema de 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2023-10-13T18:05:47Z</dcterms:created>
  <dc:creator>Robert Aldo Pardo Silva</dc:creator>
</cp:coreProperties>
</file>