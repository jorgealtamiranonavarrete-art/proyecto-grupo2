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emf" ContentType="image/x-emf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authors.xml" ContentType="application/vnd.ms-powerpoint.author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9fb8da7771c4100" /><Relationship Type="http://schemas.openxmlformats.org/officeDocument/2006/relationships/extended-properties" Target="/docProps/app.xml" Id="R8b2652ffb12c48fb" /><Relationship Type="http://schemas.openxmlformats.org/officeDocument/2006/relationships/officeDocument" Target="/ppt/presentation.xml" Id="R45ee83865c03413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6f99e305f240f7"/>
  </p:sldMasterIdLst>
  <p:notesMasterIdLst>
    <p:notesMasterId xmlns:r="http://schemas.openxmlformats.org/officeDocument/2006/relationships" r:id="Re30445e09a234816"/>
  </p:notesMasterIdLst>
  <p:sldIdLst>
    <p:sldId xmlns:r="http://schemas.openxmlformats.org/officeDocument/2006/relationships" id="256" r:id="R1ee8cca5609d4cea"/>
    <p:sldId xmlns:r="http://schemas.openxmlformats.org/officeDocument/2006/relationships" id="257" r:id="R53514540a3ac4daf"/>
    <p:sldId xmlns:r="http://schemas.openxmlformats.org/officeDocument/2006/relationships" id="258" r:id="R3b335da1a11240a9"/>
    <p:sldId xmlns:r="http://schemas.openxmlformats.org/officeDocument/2006/relationships" id="259" r:id="Rf1db0d4309a24012"/>
    <p:sldId xmlns:r="http://schemas.openxmlformats.org/officeDocument/2006/relationships" id="260" r:id="R9978c7b948184e96"/>
    <p:sldId xmlns:r="http://schemas.openxmlformats.org/officeDocument/2006/relationships" id="261" r:id="R56181d1144f542c1"/>
  </p:sldIdLst>
  <p:sldSz cx="12192000" cy="6858000"/>
  <p:notesSz cx="6858000" cy="9144000"/>
</p:presentation>
</file>

<file path=ppt/authors.xml><?xml version="1.0" encoding="utf-8"?>
<p188:authorLst xmlns:p188="http://schemas.microsoft.com/office/powerpoint/2018/8/main">
  <p188:author id="{FB1660F4-BA9A-82B8-C334-CF91C75A5656}" name="Ruth Marcela Espinosa Sarmiento" initials="RS" userId="S::ruth.espinosa@unab.cl::2acad1b5-36c7-4a86-bd14-a01055d811d0" providerId="AD"/>
</p188:authorLst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Estilo claro 3 - Acento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c14d9bc32d74dfc" /><Relationship Type="http://schemas.openxmlformats.org/officeDocument/2006/relationships/slideMaster" Target="/ppt/slideMasters/slideMaster1.xml" Id="R986f99e305f240f7" /><Relationship Type="http://schemas.openxmlformats.org/officeDocument/2006/relationships/notesMaster" Target="/ppt/notesMasters/notesMaster1.xml" Id="Re30445e09a234816" /><Relationship Type="http://schemas.openxmlformats.org/officeDocument/2006/relationships/presProps" Target="/ppt/presProps.xml" Id="Rd171b368bdf740f2" /><Relationship Type="http://schemas.openxmlformats.org/officeDocument/2006/relationships/viewProps" Target="/ppt/viewProps.xml" Id="Rc031b45da89b47ec" /><Relationship Type="http://schemas.openxmlformats.org/officeDocument/2006/relationships/tableStyles" Target="/ppt/tableStyles.xml" Id="R56ab8af5029643a7" /><Relationship Type="http://schemas.microsoft.com/office/2018/10/relationships/authors" Target="/ppt/authors.xml" Id="Read01de77cff47a3" /><Relationship Type="http://schemas.openxmlformats.org/officeDocument/2006/relationships/slide" Target="/ppt/slides/slide1.xml" Id="R1ee8cca5609d4cea" /><Relationship Type="http://schemas.openxmlformats.org/officeDocument/2006/relationships/slide" Target="/ppt/slides/slide2.xml" Id="R53514540a3ac4daf" /><Relationship Type="http://schemas.openxmlformats.org/officeDocument/2006/relationships/slide" Target="/ppt/slides/slide3.xml" Id="R3b335da1a11240a9" /><Relationship Type="http://schemas.openxmlformats.org/officeDocument/2006/relationships/slide" Target="/ppt/slides/slide4.xml" Id="Rf1db0d4309a24012" /><Relationship Type="http://schemas.openxmlformats.org/officeDocument/2006/relationships/slide" Target="/ppt/slides/slide5.xml" Id="R9978c7b948184e96" /><Relationship Type="http://schemas.openxmlformats.org/officeDocument/2006/relationships/slide" Target="/ppt/slides/slide6.xml" Id="R56181d1144f542c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bd61a5678e2451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b8b39a93596442f" /><Relationship Type="http://schemas.openxmlformats.org/officeDocument/2006/relationships/notesMaster" Target="/ppt/notesMasters/notesMaster1.xml" Id="Red1af58168a34ec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5990fd9f0ab46f3" /><Relationship Type="http://schemas.openxmlformats.org/officeDocument/2006/relationships/notesMaster" Target="/ppt/notesMasters/notesMaster1.xml" Id="R52df3f3f6aae48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3b87b2cee73424a" /><Relationship Type="http://schemas.openxmlformats.org/officeDocument/2006/relationships/notesMaster" Target="/ppt/notesMasters/notesMaster1.xml" Id="Ra67344d754ca4b2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afb02aeb920459f" /><Relationship Type="http://schemas.openxmlformats.org/officeDocument/2006/relationships/notesMaster" Target="/ppt/notesMasters/notesMaster1.xml" Id="Rd367d426f9a6480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1992b9ea6a84154" /><Relationship Type="http://schemas.openxmlformats.org/officeDocument/2006/relationships/notesMaster" Target="/ppt/notesMasters/notesMaster1.xml" Id="Re0eea4b786b747a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edb46f144824261" /><Relationship Type="http://schemas.openxmlformats.org/officeDocument/2006/relationships/notesMaster" Target="/ppt/notesMasters/notesMaster1.xml" Id="Rf3ab231f59054bd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Presentar a Cristian, Jorge, Renzo y Luis. Cada fila representa un nacido vivo registrado. El proyecto responde tres preguntas descriptivas definidas en F1. Fuente: DEIS/MINSAL.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proyecto avanza desde la definición de preguntas en F1 y la preparación de datos en F2 hasta el cálculo modular en F3 y las figuras de F4. En F3, groupby mantuvo el mismo resultado y redujo el tiempo medido; leer seis columnas redujo la memoria del DataFrame. Renzo confirmó una ejecución cruzada.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Denominador: todos los nacidos vivos por región de residencia materna. Los intervalos de Wilson muestran incertidumbre bajo un modelo binomial. No es una tasa de embarazo adolescente.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Los conteos se dividen por días calendario de cada mes y año; febrero de 2020 incluye 29 días. Las líneas muestran variación interanual. No atribuimos causalidad a la pandemia.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F2 aplicó mediana regional a 597 tallas faltantes. Sin esas imputaciones, las mismas regiones permanecen en los extremos; el mayor cambio regional fue 0,0008 cm.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Cierre: respondimos las tres preguntas con porcentajes regionales, promedios diarios y tallas medias. Las pruebas globales detectaron diferencias regionales, pero un resultado estadístico no explica sus causas. Para estudiar tendencias y estacionalidad sería útil ampliar la serie histórica.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af7763483e447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973e2d6d37468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bc701eadfd4b0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681ec9e19b486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6b747329984f6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771485f619465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a59e85d7f44ff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a5bde9afbf40f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db29d02c0041c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b5db7747f640e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27d4a0c8894bdf" /></Relationships>
</file>

<file path=ppt/slideLayouts/slideLayout1.xml><?xml version="1.0" encoding="utf-8"?>
<p:sldLayout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8B87F0-3418-4EF6-972E-983CC0E74CF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Haz clic para modificar el estilo de título del patrón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77172F0-8B24-4958-8A49-FE543007904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Haz clic para editar el estilo de subtítulo del patrón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404F1F7-5B14-49F9-95BC-62516B3095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DC156A5-B668-40B6-B68E-AFC99CB3A359}" type="datetimeFigureOut">
              <a:t>02-10-2026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9DFCA43-B0BD-4D9A-99B6-6EC2B992EB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A795A3F-E87D-4432-B0A5-DA8E39C6A4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4E32BF-339A-4FD7-AF2D-884DBB49ECE9}" type="slidenum">
              <a:t>‹Nº›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B88190-A525-4B9D-B8C7-C013171834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Haz clic para modificar el estilo de título del patrón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C014D0B-D149-40D7-9C7B-97527C79BE7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  <a:p xmlns:a="http://schemas.openxmlformats.org/drawingml/2006/main">
            <a:pPr lvl="1">
              <a:buNone/>
            </a:pPr>
            <a:r>
              <a:t>Segundo nivel</a:t>
            </a:r>
          </a:p>
          <a:p xmlns:a="http://schemas.openxmlformats.org/drawingml/2006/main">
            <a:pPr lvl="2">
              <a:buNone/>
            </a:pPr>
            <a:r>
              <a:t>Tercer nivel</a:t>
            </a:r>
          </a:p>
          <a:p xmlns:a="http://schemas.openxmlformats.org/drawingml/2006/main">
            <a:pPr lvl="3">
              <a:buNone/>
            </a:pPr>
            <a:r>
              <a:t>Cuarto nivel</a:t>
            </a:r>
          </a:p>
          <a:p xmlns:a="http://schemas.openxmlformats.org/drawingml/2006/main">
            <a:pPr lvl="4">
              <a:buNone/>
            </a:pPr>
            <a:r>
              <a:t>Quinto nivel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6DCF70-5D45-4BF7-8904-EC64DF84ABC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DC156A5-B668-40B6-B68E-AFC99CB3A359}" type="datetimeFigureOut">
              <a:t>02-10-2026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E8464D0-D01C-477D-98F9-18E139AAE24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6CFED22-AC2C-472F-ACFC-32A3069CB43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4E32BF-339A-4FD7-AF2D-884DBB49ECE9}" type="slidenum">
              <a:t>‹Nº›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3530D5-1B9E-4C1F-AD70-D571EC2640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Haz clic para modificar el estilo de título del patrón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2F3FFC1-9C76-4120-873E-0FADB6AA5CA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124ECFE-1ABB-4F5E-8A4B-37C4542D0C5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DC156A5-B668-40B6-B68E-AFC99CB3A359}" type="datetimeFigureOut">
              <a:t>02-10-2026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6D21634-0825-495E-BF9D-6BF0FD178ED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8804027-A0AF-44C8-96A7-41DEF8527A9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4E32BF-339A-4FD7-AF2D-884DBB49ECE9}" type="slidenum">
              <a:t>‹Nº›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B96EF1-E52F-43AA-A574-3DDCACBCA5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Haz clic para modificar el estilo de título del patrón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BF52AAE-21D5-49ED-B81E-A01EB64104E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  <a:p xmlns:a="http://schemas.openxmlformats.org/drawingml/2006/main">
            <a:pPr lvl="1">
              <a:buNone/>
            </a:pPr>
            <a:r>
              <a:t>Segundo nivel</a:t>
            </a:r>
          </a:p>
          <a:p xmlns:a="http://schemas.openxmlformats.org/drawingml/2006/main">
            <a:pPr lvl="2">
              <a:buNone/>
            </a:pPr>
            <a:r>
              <a:t>Tercer nivel</a:t>
            </a:r>
          </a:p>
          <a:p xmlns:a="http://schemas.openxmlformats.org/drawingml/2006/main">
            <a:pPr lvl="3">
              <a:buNone/>
            </a:pPr>
            <a:r>
              <a:t>Cuarto nivel</a:t>
            </a:r>
          </a:p>
          <a:p xmlns:a="http://schemas.openxmlformats.org/drawingml/2006/main">
            <a:pPr lvl="4">
              <a:buNone/>
            </a:pPr>
            <a:r>
              <a:t>Quinto nivel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1AFBC37-BB08-414A-98B8-8DB9FC156EE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  <a:p xmlns:a="http://schemas.openxmlformats.org/drawingml/2006/main">
            <a:pPr lvl="1">
              <a:buNone/>
            </a:pPr>
            <a:r>
              <a:t>Segundo nivel</a:t>
            </a:r>
          </a:p>
          <a:p xmlns:a="http://schemas.openxmlformats.org/drawingml/2006/main">
            <a:pPr lvl="2">
              <a:buNone/>
            </a:pPr>
            <a:r>
              <a:t>Tercer nivel</a:t>
            </a:r>
          </a:p>
          <a:p xmlns:a="http://schemas.openxmlformats.org/drawingml/2006/main">
            <a:pPr lvl="3">
              <a:buNone/>
            </a:pPr>
            <a:r>
              <a:t>Cuarto nivel</a:t>
            </a:r>
          </a:p>
          <a:p xmlns:a="http://schemas.openxmlformats.org/drawingml/2006/main">
            <a:pPr lvl="4">
              <a:buNone/>
            </a:pPr>
            <a:r>
              <a:t>Quinto nivel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F66B0B-35EB-4C69-8F24-1DD5EA216DC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DC156A5-B668-40B6-B68E-AFC99CB3A359}" type="datetimeFigureOut">
              <a:t>02-10-2026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3BBD052-CD74-4EB2-A42D-05F6284667C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C8A6805-987D-45B0-94D3-A66BB66BB3C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4E32BF-339A-4FD7-AF2D-884DBB49ECE9}" type="slidenum">
              <a:t>‹Nº›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30D09C9-8A05-4FC6-BBBB-12EF78BD3D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Haz clic para modificar el estilo de título del patrón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51E9A97-BBA1-483A-BB46-78376A57BC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581D988-2775-444B-8436-E71DC5B8B15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  <a:p xmlns:a="http://schemas.openxmlformats.org/drawingml/2006/main">
            <a:pPr lvl="1">
              <a:buNone/>
            </a:pPr>
            <a:r>
              <a:t>Segundo nivel</a:t>
            </a:r>
          </a:p>
          <a:p xmlns:a="http://schemas.openxmlformats.org/drawingml/2006/main">
            <a:pPr lvl="2">
              <a:buNone/>
            </a:pPr>
            <a:r>
              <a:t>Tercer nivel</a:t>
            </a:r>
          </a:p>
          <a:p xmlns:a="http://schemas.openxmlformats.org/drawingml/2006/main">
            <a:pPr lvl="3">
              <a:buNone/>
            </a:pPr>
            <a:r>
              <a:t>Cuarto nivel</a:t>
            </a:r>
          </a:p>
          <a:p xmlns:a="http://schemas.openxmlformats.org/drawingml/2006/main">
            <a:pPr lvl="4">
              <a:buNone/>
            </a:pPr>
            <a:r>
              <a:t>Quinto nivel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DF0B5C6B-1969-4822-A1F0-01CA1BCE0D9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E17B7A9-A28E-4728-8B93-DDC5C49DD70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  <a:p xmlns:a="http://schemas.openxmlformats.org/drawingml/2006/main">
            <a:pPr lvl="1">
              <a:buNone/>
            </a:pPr>
            <a:r>
              <a:t>Segundo nivel</a:t>
            </a:r>
          </a:p>
          <a:p xmlns:a="http://schemas.openxmlformats.org/drawingml/2006/main">
            <a:pPr lvl="2">
              <a:buNone/>
            </a:pPr>
            <a:r>
              <a:t>Tercer nivel</a:t>
            </a:r>
          </a:p>
          <a:p xmlns:a="http://schemas.openxmlformats.org/drawingml/2006/main">
            <a:pPr lvl="3">
              <a:buNone/>
            </a:pPr>
            <a:r>
              <a:t>Cuarto nivel</a:t>
            </a:r>
          </a:p>
          <a:p xmlns:a="http://schemas.openxmlformats.org/drawingml/2006/main">
            <a:pPr lvl="4">
              <a:buNone/>
            </a:pPr>
            <a:r>
              <a:t>Quinto nivel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664E6FC-059C-4F15-AE86-B398137A434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DC156A5-B668-40B6-B68E-AFC99CB3A359}" type="datetimeFigureOut">
              <a:t>02-10-2026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7697F30-AA69-46CF-99E0-880E28A2E1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ED5CD46F-D182-4417-8EF0-8F6B01EC44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4E32BF-339A-4FD7-AF2D-884DBB49ECE9}" type="slidenum">
              <a:t>‹Nº›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777348-A4AA-4A08-AAAA-F5099A9400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Haz clic para modificar el estilo de título del patrón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C532370-4655-49C8-A0F2-82D05D385F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DC156A5-B668-40B6-B68E-AFC99CB3A359}" type="datetimeFigureOut">
              <a:t>02-10-2026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A9D0FE2-545D-4D87-B550-19BD4F7A324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4B3D6CF-9093-4ECC-AAB8-40D09FAF42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4E32BF-339A-4FD7-AF2D-884DBB49ECE9}" type="slidenum">
              <a:t>‹Nº›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68310B56-2B7D-42C9-A1E4-D2046F4729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DC156A5-B668-40B6-B68E-AFC99CB3A359}" type="datetimeFigureOut">
              <a:t>02-10-2026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8959E1D6-2D02-4D9E-B88D-27ACBB21024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C349D3D-060A-48D3-86E1-B9F47E7A56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4E32BF-339A-4FD7-AF2D-884DBB49ECE9}" type="slidenum">
              <a:t>‹Nº›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962BA89-8C4D-4B71-A7C9-0CCB77FC43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Haz clic para modificar el estilo de título del patrón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29C14C-4726-426E-99E8-2CAFF90B62B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  <a:p xmlns:a="http://schemas.openxmlformats.org/drawingml/2006/main">
            <a:pPr lvl="1">
              <a:buNone/>
            </a:pPr>
            <a:r>
              <a:t>Segundo nivel</a:t>
            </a:r>
          </a:p>
          <a:p xmlns:a="http://schemas.openxmlformats.org/drawingml/2006/main">
            <a:pPr lvl="2">
              <a:buNone/>
            </a:pPr>
            <a:r>
              <a:t>Tercer nivel</a:t>
            </a:r>
          </a:p>
          <a:p xmlns:a="http://schemas.openxmlformats.org/drawingml/2006/main">
            <a:pPr lvl="3">
              <a:buNone/>
            </a:pPr>
            <a:r>
              <a:t>Cuarto nivel</a:t>
            </a:r>
          </a:p>
          <a:p xmlns:a="http://schemas.openxmlformats.org/drawingml/2006/main">
            <a:pPr lvl="4">
              <a:buNone/>
            </a:pPr>
            <a:r>
              <a:t>Quinto nivel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CB8EBB7-0A4D-4990-8304-D27477D8037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63CA1A7-2135-4B36-AAB8-5EB2EC255CF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DC156A5-B668-40B6-B68E-AFC99CB3A359}" type="datetimeFigureOut">
              <a:t>02-10-2026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A2FB0B7-9645-40E1-A3B0-2BA3F59CC5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A31E26F-E0E5-4B7B-8BC8-1431395F0F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4E32BF-339A-4FD7-AF2D-884DBB49ECE9}" type="slidenum">
              <a:t>‹Nº›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2793A68-5D5F-4741-9D35-0F5448563B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Haz clic para modificar el estilo de título del patrón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3B64CD4-63C6-4953-874D-5797A9C0B94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Haz clic en el icono para agregar una imagen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ECF9C1A-43CB-4FCA-9C86-3EEAC33DA79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DDB10A4-ABA3-4B8E-904A-EE19D658C3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DC156A5-B668-40B6-B68E-AFC99CB3A359}" type="datetimeFigureOut">
              <a:t>02-10-2026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3A31971-6375-4A5F-816B-12DBEDEE540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0FE843B-57F6-48EE-9623-3C530DFE9C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4E32BF-339A-4FD7-AF2D-884DBB49ECE9}" type="slidenum">
              <a:t>‹Nº›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5A27895-0166-4801-8DBF-7219829015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Haz clic para modificar el estilo de título del patrón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A662C5E-3593-4BCD-A078-6FB4A53E8D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  <a:p xmlns:a="http://schemas.openxmlformats.org/drawingml/2006/main">
            <a:pPr lvl="1">
              <a:buNone/>
            </a:pPr>
            <a:r>
              <a:t>Segundo nivel</a:t>
            </a:r>
          </a:p>
          <a:p xmlns:a="http://schemas.openxmlformats.org/drawingml/2006/main">
            <a:pPr lvl="2">
              <a:buNone/>
            </a:pPr>
            <a:r>
              <a:t>Tercer nivel</a:t>
            </a:r>
          </a:p>
          <a:p xmlns:a="http://schemas.openxmlformats.org/drawingml/2006/main">
            <a:pPr lvl="3">
              <a:buNone/>
            </a:pPr>
            <a:r>
              <a:t>Cuarto nivel</a:t>
            </a:r>
          </a:p>
          <a:p xmlns:a="http://schemas.openxmlformats.org/drawingml/2006/main">
            <a:pPr lvl="4">
              <a:buNone/>
            </a:pPr>
            <a:r>
              <a:t>Quinto nivel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2A958F4-48A6-45EB-A951-7E503F22F9C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DC156A5-B668-40B6-B68E-AFC99CB3A359}" type="datetimeFigureOut">
              <a:t>02-10-2026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0584637-2A63-4804-B173-BD03DA0C10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96433EE-2F28-4330-8819-92DECED71D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4E32BF-339A-4FD7-AF2D-884DBB49ECE9}" type="slidenum">
              <a:t>‹Nº›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631F5EA9-D7BC-45A3-A3D4-0116E4AE03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Haz clic para modificar el estilo de título del patrón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941F1DD-DF4F-4F64-B39D-B1CAFD2D920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  <a:p xmlns:a="http://schemas.openxmlformats.org/drawingml/2006/main">
            <a:pPr lvl="1">
              <a:buNone/>
            </a:pPr>
            <a:r>
              <a:t>Segundo nivel</a:t>
            </a:r>
          </a:p>
          <a:p xmlns:a="http://schemas.openxmlformats.org/drawingml/2006/main">
            <a:pPr lvl="2">
              <a:buNone/>
            </a:pPr>
            <a:r>
              <a:t>Tercer nivel</a:t>
            </a:r>
          </a:p>
          <a:p xmlns:a="http://schemas.openxmlformats.org/drawingml/2006/main">
            <a:pPr lvl="3">
              <a:buNone/>
            </a:pPr>
            <a:r>
              <a:t>Cuarto nivel</a:t>
            </a:r>
          </a:p>
          <a:p xmlns:a="http://schemas.openxmlformats.org/drawingml/2006/main">
            <a:pPr lvl="4">
              <a:buNone/>
            </a:pPr>
            <a:r>
              <a:t>Quinto nivel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F5BF7B3-53A8-4C25-88E0-EA92BCB23C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DC156A5-B668-40B6-B68E-AFC99CB3A359}" type="datetimeFigureOut">
              <a:t>02-10-2026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9E96166-0515-40F5-9762-0A31BAFC42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D15F8EB-CF0D-4217-B953-3B3DF0EEC70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4E32BF-339A-4FD7-AF2D-884DBB49ECE9}" type="slidenum">
              <a:t>‹Nº›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9d550a43d664f20" /><Relationship Type="http://schemas.openxmlformats.org/officeDocument/2006/relationships/slideLayout" Target="/ppt/slideLayouts/slideLayout1.xml" Id="R74f4fc63fc324aad" /><Relationship Type="http://schemas.openxmlformats.org/officeDocument/2006/relationships/slideLayout" Target="/ppt/slideLayouts/slideLayout2.xml" Id="Rcd363018786140f0" /><Relationship Type="http://schemas.openxmlformats.org/officeDocument/2006/relationships/slideLayout" Target="/ppt/slideLayouts/slideLayout3.xml" Id="Rad7c160c189f4468" /><Relationship Type="http://schemas.openxmlformats.org/officeDocument/2006/relationships/slideLayout" Target="/ppt/slideLayouts/slideLayout4.xml" Id="Red51199241454d1e" /><Relationship Type="http://schemas.openxmlformats.org/officeDocument/2006/relationships/slideLayout" Target="/ppt/slideLayouts/slideLayout5.xml" Id="R62cdccc324a74e15" /><Relationship Type="http://schemas.openxmlformats.org/officeDocument/2006/relationships/slideLayout" Target="/ppt/slideLayouts/slideLayout6.xml" Id="R4d68b716e1e6464e" /><Relationship Type="http://schemas.openxmlformats.org/officeDocument/2006/relationships/slideLayout" Target="/ppt/slideLayouts/slideLayout7.xml" Id="R5a1d9c73ba1f44e1" /><Relationship Type="http://schemas.openxmlformats.org/officeDocument/2006/relationships/slideLayout" Target="/ppt/slideLayouts/slideLayout8.xml" Id="Rd0b0e4734f434ecb" /><Relationship Type="http://schemas.openxmlformats.org/officeDocument/2006/relationships/slideLayout" Target="/ppt/slideLayouts/slideLayout9.xml" Id="R796fffa1f80e42de" /><Relationship Type="http://schemas.openxmlformats.org/officeDocument/2006/relationships/slideLayout" Target="/ppt/slideLayouts/slideLayout10.xml" Id="R612b840807004110" /><Relationship Type="http://schemas.openxmlformats.org/officeDocument/2006/relationships/slideLayout" Target="/ppt/slideLayouts/slideLayout11.xml" Id="Rdeae6e816f2e44b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209B075-6F85-47AF-A9CF-C7375FBFC5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Haz clic para modificar el estilo de título del patrón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C686540-C7B8-4D03-A752-63B106AFA5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  <a:p xmlns:a="http://schemas.openxmlformats.org/drawingml/2006/main">
            <a:pPr lvl="1">
              <a:buNone/>
            </a:pPr>
            <a:r>
              <a:t>Segundo nivel</a:t>
            </a:r>
          </a:p>
          <a:p xmlns:a="http://schemas.openxmlformats.org/drawingml/2006/main">
            <a:pPr lvl="2">
              <a:buNone/>
            </a:pPr>
            <a:r>
              <a:t>Tercer nivel</a:t>
            </a:r>
          </a:p>
          <a:p xmlns:a="http://schemas.openxmlformats.org/drawingml/2006/main">
            <a:pPr lvl="3">
              <a:buNone/>
            </a:pPr>
            <a:r>
              <a:t>Cuarto nivel</a:t>
            </a:r>
          </a:p>
          <a:p xmlns:a="http://schemas.openxmlformats.org/drawingml/2006/main">
            <a:pPr lvl="4">
              <a:buNone/>
            </a:pPr>
            <a:r>
              <a:t>Quinto nivel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A1B0CE8-A8F2-4A35-9169-3FA299BE706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7DC156A5-B668-40B6-B68E-AFC99CB3A359}" type="datetimeFigureOut">
              <a:t>02-10-2026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DD84987-C2C3-447B-A517-9410CCB930C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656844-EE54-49D3-83C0-3D502721294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24E32BF-339A-4FD7-AF2D-884DBB49ECE9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4f4fc63fc324aad"/>
    <p:sldLayoutId xmlns:r="http://schemas.openxmlformats.org/officeDocument/2006/relationships" id="2147483650" r:id="Rcd363018786140f0"/>
    <p:sldLayoutId xmlns:r="http://schemas.openxmlformats.org/officeDocument/2006/relationships" id="2147483651" r:id="Rad7c160c189f4468"/>
    <p:sldLayoutId xmlns:r="http://schemas.openxmlformats.org/officeDocument/2006/relationships" id="2147483652" r:id="Red51199241454d1e"/>
    <p:sldLayoutId xmlns:r="http://schemas.openxmlformats.org/officeDocument/2006/relationships" id="2147483653" r:id="R62cdccc324a74e15"/>
    <p:sldLayoutId xmlns:r="http://schemas.openxmlformats.org/officeDocument/2006/relationships" id="2147483654" r:id="R4d68b716e1e6464e"/>
    <p:sldLayoutId xmlns:r="http://schemas.openxmlformats.org/officeDocument/2006/relationships" id="2147483655" r:id="R5a1d9c73ba1f44e1"/>
    <p:sldLayoutId xmlns:r="http://schemas.openxmlformats.org/officeDocument/2006/relationships" id="2147483656" r:id="Rd0b0e4734f434ecb"/>
    <p:sldLayoutId xmlns:r="http://schemas.openxmlformats.org/officeDocument/2006/relationships" id="2147483657" r:id="R796fffa1f80e42de"/>
    <p:sldLayoutId xmlns:r="http://schemas.openxmlformats.org/officeDocument/2006/relationships" id="2147483658" r:id="R612b840807004110"/>
    <p:sldLayoutId xmlns:r="http://schemas.openxmlformats.org/officeDocument/2006/relationships" id="2147483659" r:id="Rdeae6e816f2e44bd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df121c953b4557" /><Relationship Type="http://schemas.openxmlformats.org/officeDocument/2006/relationships/image" Target="/ppt/media/image.png" Id="R435aa96949e3405e" /><Relationship Type="http://schemas.openxmlformats.org/officeDocument/2006/relationships/image" Target="/ppt/media/image.emf" Id="Rf87a6be269ab4b6a" /><Relationship Type="http://schemas.openxmlformats.org/officeDocument/2006/relationships/notesSlide" Target="/ppt/notesSlides/notesSlide1.xml" Id="R470c960c428e484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06160658784d1d" /><Relationship Type="http://schemas.openxmlformats.org/officeDocument/2006/relationships/image" Target="/ppt/media/image2.png" Id="R05489cb3f2704a95" /><Relationship Type="http://schemas.openxmlformats.org/officeDocument/2006/relationships/image" Target="/ppt/media/image.emf" Id="R265158c67ac644ad" /><Relationship Type="http://schemas.openxmlformats.org/officeDocument/2006/relationships/notesSlide" Target="/ppt/notesSlides/notesSlide2.xml" Id="R396e81f31c6a4e7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ac42852af44b47" /><Relationship Type="http://schemas.openxmlformats.org/officeDocument/2006/relationships/image" Target="/ppt/media/image.emf" Id="R42ee6ef3b04c430e" /><Relationship Type="http://schemas.openxmlformats.org/officeDocument/2006/relationships/image" Target="/ppt/media/image3.png" Id="R0844cd1bcdb94cb5" /><Relationship Type="http://schemas.openxmlformats.org/officeDocument/2006/relationships/notesSlide" Target="/ppt/notesSlides/notesSlide3.xml" Id="R34986cdd75d94f9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0e8090865f4c51" /><Relationship Type="http://schemas.openxmlformats.org/officeDocument/2006/relationships/image" Target="/ppt/media/image.emf" Id="R35017881c439484e" /><Relationship Type="http://schemas.openxmlformats.org/officeDocument/2006/relationships/image" Target="/ppt/media/image4.png" Id="R6addc45106834c1c" /><Relationship Type="http://schemas.openxmlformats.org/officeDocument/2006/relationships/notesSlide" Target="/ppt/notesSlides/notesSlide4.xml" Id="Rc681d7a0b5594be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3264742b264579" /><Relationship Type="http://schemas.openxmlformats.org/officeDocument/2006/relationships/image" Target="/ppt/media/image.emf" Id="R911c7f277a844739" /><Relationship Type="http://schemas.openxmlformats.org/officeDocument/2006/relationships/image" Target="/ppt/media/image5.png" Id="Rc9d1bdcba60149f4" /><Relationship Type="http://schemas.openxmlformats.org/officeDocument/2006/relationships/notesSlide" Target="/ppt/notesSlides/notesSlide5.xml" Id="R1f0e54b11d5c429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0d56ece2a0446d" /><Relationship Type="http://schemas.openxmlformats.org/officeDocument/2006/relationships/image" Target="/ppt/media/image.png" Id="Rf32d5b1bd3ae4121" /><Relationship Type="http://schemas.openxmlformats.org/officeDocument/2006/relationships/image" Target="/ppt/media/image.emf" Id="Rc202a74081ae4e7a" /><Relationship Type="http://schemas.openxmlformats.org/officeDocument/2006/relationships/notesSlide" Target="/ppt/notesSlides/notesSlide6.xml" Id="R2c21def587c548cf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435aa96949e3405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ítulo 1">
            <a:extLst xmlns:a="http://schemas.openxmlformats.org/drawingml/2006/main">
              <a:ext uri="{FF2B5EF4-FFF2-40B4-BE49-F238E27FC236}">
                <a16:creationId xmlns:a16="http://schemas.microsoft.com/office/drawing/2014/main" id="{8261AC4D-D56B-FCD9-2D31-C2C2E0662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7331" y="2894648"/>
            <a:ext cx="8757337" cy="741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b">
            <a:noAutofit/>
          </a:bodyPr>
          <a:lstStyle xmlns:a="http://schemas.openxmlformats.org/drawingml/2006/main">
            <a:lvl1pPr algn="ctr" defTabSz="914400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rPr sz="2900">
                <a:solidFill>
                  <a:srgbClr val="FFFFFF"/>
                </a:solidFill>
                <a:latin typeface="Arial"/>
                <a:ea typeface="Arial"/>
                <a:cs typeface="Arial"/>
              </a:rPr>
              <a:t>Nacimientos en Chile entre 2020 y 2023</a:t>
            </a:r>
            <a:endParaRPr sz="290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3" name="Imagen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7a6be269ab4b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04906" y="1086558"/>
            <a:ext cx="1727200" cy="1460500"/>
          </a:xfrm>
          <a:prstGeom xmlns:a="http://schemas.openxmlformats.org/drawingml/2006/main" prst="rect">
            <a:avLst/>
          </a:prstGeom>
        </p:spPr>
      </p:pic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2944E5F5-76E7-7915-76DC-35DD2BF31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270" y="3677840"/>
            <a:ext cx="6000108" cy="45719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/>
          </a:solidFill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Subtítulo 2">
            <a:extLst xmlns:a="http://schemas.openxmlformats.org/drawingml/2006/main">
              <a:ext uri="{FF2B5EF4-FFF2-40B4-BE49-F238E27FC236}">
                <a16:creationId xmlns:a16="http://schemas.microsoft.com/office/drawing/2014/main" id="{9CBD3C2B-219F-AC36-606B-A6905CE9E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5398" y="3818300"/>
            <a:ext cx="6613130" cy="10983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t">
            <a:noAutofit/>
          </a:bodyPr>
          <a:lstStyle xmlns:a="http://schemas.openxmlformats.org/drawingml/2006/main"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Proyecto final integrador · Fase 4 · Grupo 2</a:t>
            </a:r>
            <a:endParaRPr sz="200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Subtítulo 2">
            <a:extLst xmlns:a="http://schemas.openxmlformats.org/drawingml/2006/main">
              <a:ext uri="{FF2B5EF4-FFF2-40B4-BE49-F238E27FC236}">
                <a16:creationId xmlns:a16="http://schemas.microsoft.com/office/drawing/2014/main" id="{41860A79-B110-9F78-3978-77AFA70E5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5270" y="6541035"/>
            <a:ext cx="1426836" cy="4256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t">
            <a:noAutofit/>
          </a:bodyPr>
          <a:lstStyle xmlns:a="http://schemas.openxmlformats.org/drawingml/2006/main"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buNone/>
            </a:pPr>
            <a:r>
              <a:rPr sz="1200">
                <a:solidFill>
                  <a:srgbClr val="FFFFFF"/>
                </a:solidFill>
                <a:latin typeface="Arial"/>
                <a:ea typeface="Arial"/>
                <a:cs typeface="Arial"/>
              </a:rPr>
              <a:t>OCTUBRE 2026</a:t>
            </a:r>
            <a:endParaRPr sz="120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19734628"/>
      </p:ext>
    </p:extLst>
  </p:cSld>
  <p:clrMapOvr>
    <a:overrideClrMapping xmlns:a="http://schemas.openxmlformats.org/drawingml/2006/main"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Imagen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5489cb3f2704a95"/>
          <a:srcRect xmlns:a="http://schemas.openxmlformats.org/drawingml/2006/main" l="38369" t="0" r="7163" b="0"/>
          <a:stretch xmlns:a="http://schemas.openxmlformats.org/drawingml/2006/main"/>
        </p:blipFill>
        <p:spPr>
          <a:xfrm xmlns:a="http://schemas.openxmlformats.org/drawingml/2006/main">
            <a:off x="6549030" y="-79378"/>
            <a:ext cx="5738628" cy="7016756"/>
          </a:xfrm>
          <a:prstGeom xmlns:a="http://schemas.openxmlformats.org/drawingml/2006/main" prst="rect">
            <a:avLst/>
          </a:prstGeom>
        </p:spPr>
      </p:pic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C44C02C-081F-BED0-D6AD-14E853857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02002" y="907609"/>
            <a:ext cx="11544754" cy="56989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chemeClr val="bg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14" name="Título 1">
            <a:extLst xmlns:a="http://schemas.openxmlformats.org/drawingml/2006/main">
              <a:ext uri="{FF2B5EF4-FFF2-40B4-BE49-F238E27FC236}">
                <a16:creationId xmlns:a16="http://schemas.microsoft.com/office/drawing/2014/main" id="{BD4FDC23-8EEC-4944-2580-A2FC374C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66948" y="-206018"/>
            <a:ext cx="1339576" cy="1716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060"/>
          </a:solidFill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rPr sz="28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</a:t>
            </a:r>
            <a:endParaRPr sz="280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20" name="Imagen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5158c67ac644a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10375523" y="394074"/>
            <a:ext cx="1151092" cy="973350"/>
          </a:xfrm>
          <a:prstGeom xmlns:a="http://schemas.openxmlformats.org/drawingml/2006/main" prst="rect">
            <a:avLst/>
          </a:prstGeom>
        </p:spPr>
      </p:pic>
      <p:sp>
        <p:nvSpPr>
          <p:cNvPr id="5" name="CuadroTexto 4">
            <a:extLst xmlns:a="http://schemas.openxmlformats.org/drawingml/2006/main">
              <a:ext uri="{FF2B5EF4-FFF2-40B4-BE49-F238E27FC236}">
                <a16:creationId xmlns:a16="http://schemas.microsoft.com/office/drawing/2014/main" id="{C6FFEBCA-443A-A485-8CB8-8F346C8CD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349" y="2177245"/>
            <a:ext cx="5109838" cy="270843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Del dato original al resultado
F1 definió tres preguntas e indicadores.
F2 preparó 735.611 registros y eligió la mediana regional para 597 tallas faltantes.
F3 separó lectura, cálculo y medición.
F4 presenta tablas, figuras y límites del análisis.</a:t>
            </a:r>
            <a:endParaRPr sz="170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9209378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C44C02C-081F-BED0-D6AD-14E853857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02002" y="907609"/>
            <a:ext cx="11544754" cy="56989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chemeClr val="bg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14" name="Título 1">
            <a:extLst xmlns:a="http://schemas.openxmlformats.org/drawingml/2006/main">
              <a:ext uri="{FF2B5EF4-FFF2-40B4-BE49-F238E27FC236}">
                <a16:creationId xmlns:a16="http://schemas.microsoft.com/office/drawing/2014/main" id="{BD4FDC23-8EEC-4944-2580-A2FC374C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66948" y="-206018"/>
            <a:ext cx="1339576" cy="1716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060"/>
          </a:solidFill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rPr sz="28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</a:t>
            </a:r>
            <a:endParaRPr sz="280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9" name="Imagen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ee6ef3b04c43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10375523" y="394074"/>
            <a:ext cx="1151092" cy="973350"/>
          </a:xfrm>
          <a:prstGeom xmlns:a="http://schemas.openxmlformats.org/drawingml/2006/main" prst="rect">
            <a:avLst/>
          </a:prstGeom>
        </p:spPr>
      </p:pic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648367"/>
            <a:ext cx="8591836" cy="5207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B37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33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 u="none" cap="none" spc="0">
                <a:ln>
                  <a:noFill/>
                </a:ln>
                <a:solidFill>
                  <a:srgbClr val="FFFFFF"/>
                </a:solidFill>
                <a:latin typeface="Arial"/>
                <a:ea typeface="Arial"/>
                <a:cs typeface="Arial"/>
              </a:rPr>
              <a:t>1. MADRES MENORES DE 20 AÑOS POR REGIÓN</a:t>
            </a:r>
            <a:endParaRPr u="none" kern="1200" cap="none" spc="0" baseline="0">
              <a:ln>
                <a:noFill/>
              </a:ln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21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44cd1bcdb94c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87600" y="1409700"/>
            <a:ext cx="7429500" cy="4152900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EF95E14-9B7E-D5E4-1E43-27C98910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765800"/>
            <a:ext cx="8763000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rgbClr val="002C6B"/>
                </a:solidFill>
                <a:latin typeface="Arial"/>
                <a:ea typeface="Arial"/>
                <a:cs typeface="Arial"/>
              </a:rPr>
              <a:t>Tarapacá: 6,37 %   Magallanes: 3,06 %   Diferencia: 3,31 puntos porcentuales</a:t>
            </a:r>
            <a:endParaRPr b="1">
              <a:solidFill>
                <a:srgbClr val="002C6B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85140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C44C02C-081F-BED0-D6AD-14E853857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02002" y="907609"/>
            <a:ext cx="11544754" cy="56989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chemeClr val="bg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14" name="Título 1">
            <a:extLst xmlns:a="http://schemas.openxmlformats.org/drawingml/2006/main">
              <a:ext uri="{FF2B5EF4-FFF2-40B4-BE49-F238E27FC236}">
                <a16:creationId xmlns:a16="http://schemas.microsoft.com/office/drawing/2014/main" id="{BD4FDC23-8EEC-4944-2580-A2FC374C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66948" y="-206018"/>
            <a:ext cx="1339576" cy="1716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060"/>
          </a:solidFill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rPr sz="28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</a:t>
            </a:r>
            <a:endParaRPr sz="280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9" name="Imagen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017881c43948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10375523" y="394074"/>
            <a:ext cx="1151092" cy="973350"/>
          </a:xfrm>
          <a:prstGeom xmlns:a="http://schemas.openxmlformats.org/drawingml/2006/main" prst="rect">
            <a:avLst/>
          </a:prstGeom>
        </p:spPr>
      </p:pic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99A2E30-616D-1F0A-16A8-53E798FF4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648367"/>
            <a:ext cx="8591836" cy="5207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B37"/>
          </a:solidFill>
          <a:ln xmlns:a="http://schemas.openxmlformats.org/drawingml/2006/main" w="0">
            <a:noFill/>
          </a:ln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2. NACIMIENTOS DIARIOS POR MES</a:t>
            </a:r>
            <a:endParaRPr sz="2200" b="1">
              <a:solidFill>
                <a:srgbClr val="002C6B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21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ddc45106834c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841500" y="1511300"/>
            <a:ext cx="8445500" cy="3962400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1461CF4-B863-5F68-3E7F-0FAF6550C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702300"/>
            <a:ext cx="8255000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rgbClr val="002C6B"/>
                </a:solidFill>
                <a:latin typeface="Arial"/>
                <a:ea typeface="Arial"/>
                <a:cs typeface="Arial"/>
              </a:rPr>
              <a:t>Enero: 522,6 por día   Diciembre: 486,2 por día   Diferencia: 36,3</a:t>
            </a:r>
            <a:endParaRPr b="1">
              <a:solidFill>
                <a:srgbClr val="002C6B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7754454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4DF36094-0FB9-F3DC-C452-4398E244C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02002" y="907609"/>
            <a:ext cx="11544754" cy="56989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chemeClr val="bg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10" name="Título 1">
            <a:extLst xmlns:a="http://schemas.openxmlformats.org/drawingml/2006/main">
              <a:ext uri="{FF2B5EF4-FFF2-40B4-BE49-F238E27FC236}">
                <a16:creationId xmlns:a16="http://schemas.microsoft.com/office/drawing/2014/main" id="{B2F028C8-9C80-609F-0408-2AADF7DA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66948" y="-206018"/>
            <a:ext cx="1339576" cy="1716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060"/>
          </a:solidFill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rPr sz="28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</a:t>
            </a:r>
            <a:endParaRPr sz="280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20" name="Imagen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1c7f277a8447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10375523" y="394074"/>
            <a:ext cx="1151092" cy="973350"/>
          </a:xfrm>
          <a:prstGeom xmlns:a="http://schemas.openxmlformats.org/drawingml/2006/main" prst="rect">
            <a:avLst/>
          </a:prstGeom>
        </p:spPr>
      </p:pic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271A28B1-078C-167A-05FF-22C362B42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648367"/>
            <a:ext cx="8591836" cy="5207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B37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33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 u="none" cap="none" spc="0">
                <a:ln>
                  <a:noFill/>
                </a:ln>
                <a:solidFill>
                  <a:srgbClr val="FFFFFF"/>
                </a:solidFill>
                <a:latin typeface="Arial"/>
                <a:ea typeface="Arial"/>
                <a:cs typeface="Arial"/>
              </a:rPr>
              <a:t>3. TALLA MEDIA AL NACER POR REGIÓN</a:t>
            </a:r>
            <a:endParaRPr u="none" kern="1200" cap="none" spc="0" baseline="0">
              <a:ln>
                <a:noFill/>
              </a:ln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22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d1bdcba60149f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74900" y="1409700"/>
            <a:ext cx="7429500" cy="4152900"/>
          </a:xfrm>
          <a:prstGeom xmlns:a="http://schemas.openxmlformats.org/drawingml/2006/main" prst="rect">
            <a:avLst/>
          </a:prstGeom>
        </p:spPr>
      </p:pic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D8B6A05-A60E-4C92-414A-7A8530991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765800"/>
            <a:ext cx="9144000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rgbClr val="002C6B"/>
                </a:solidFill>
                <a:latin typeface="Arial"/>
                <a:ea typeface="Arial"/>
                <a:cs typeface="Arial"/>
              </a:rPr>
              <a:t>Arica y Parinacota: 49,33 cm   Antofagasta: 48,62 cm   Diferencia: 0,71 cm</a:t>
            </a:r>
            <a:endParaRPr b="1">
              <a:solidFill>
                <a:srgbClr val="002C6B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54131010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32d5b1bd3ae412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Imagen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02a74081ae4e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32400" y="2606876"/>
            <a:ext cx="1727200" cy="1460500"/>
          </a:xfrm>
          <a:prstGeom xmlns:a="http://schemas.openxmlformats.org/drawingml/2006/main" prst="rect">
            <a:avLst/>
          </a:prstGeom>
        </p:spPr>
      </p:pic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999554E-CBCA-1CA4-5085-12269ECBE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71500"/>
            <a:ext cx="7620000" cy="5693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3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CONCLUSIONES Y LÍMITES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645A0DD-7F7B-0026-E0D3-7600C2B48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2000" y="4406900"/>
            <a:ext cx="8318500" cy="166199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700">
                <a:solidFill>
                  <a:srgbClr val="FFFFFF"/>
                </a:solidFill>
                <a:latin typeface="Arial"/>
                <a:ea typeface="Arial"/>
                <a:cs typeface="Arial"/>
              </a:rPr>
              <a:t>Respondimos las tres preguntas originales.
</a:t>
            </a:r>
            <a:r>
              <a:rPr sz="1700">
                <a:solidFill>
                  <a:srgbClr val="FFFFFF"/>
                </a:solidFill>
                <a:latin typeface="Arial"/>
                <a:ea typeface="Arial"/>
                <a:cs typeface="Arial"/>
              </a:rPr>
              <a:t>Los contrastes estadísticos detectaron diferencias entre regiones, y los promedios diarios mostraron variación entre meses.</a:t>
            </a:r>
            <a:r>
              <a:rPr sz="1700">
                <a:solidFill>
                  <a:srgbClr val="FFFFFF"/>
                </a:solidFill>
                <a:latin typeface="Arial"/>
                <a:ea typeface="Arial"/>
                <a:cs typeface="Arial"/>
              </a:rPr>
              <a:t>
La serie 2020–2023 describe patrones, pero no permite identificar sus causas.</a:t>
            </a:r>
            <a:endParaRPr sz="170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07412846"/>
      </p:ext>
    </p:extLst>
  </p:cSld>
  <p:clrMapOvr>
    <a:overrideClrMapping xmlns:a="http://schemas.openxmlformats.org/drawingml/2006/main"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2026-10-05T01:09:13.7900000Z</dcterms:created>
  <dcterms:modified xsi:type="dcterms:W3CDTF">2026-10-05T01:09:13.7900000Z</dcterms:modified>
</coreProperties>
</file>